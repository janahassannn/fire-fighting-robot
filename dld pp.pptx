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Lst>
  <p:sldIdLst>
    <p:sldId id="256" r:id="rId5"/>
    <p:sldId id="258" r:id="rId6"/>
    <p:sldId id="257" r:id="rId7"/>
    <p:sldId id="269" r:id="rId8"/>
    <p:sldId id="270" r:id="rId9"/>
    <p:sldId id="271" r:id="rId10"/>
    <p:sldId id="260" r:id="rId11"/>
    <p:sldId id="259" r:id="rId12"/>
    <p:sldId id="261" r:id="rId13"/>
    <p:sldId id="273" r:id="rId14"/>
    <p:sldId id="275" r:id="rId15"/>
    <p:sldId id="272" r:id="rId16"/>
    <p:sldId id="274" r:id="rId17"/>
    <p:sldId id="283" r:id="rId18"/>
    <p:sldId id="282" r:id="rId19"/>
    <p:sldId id="281" r:id="rId20"/>
    <p:sldId id="284" r:id="rId21"/>
    <p:sldId id="287" r:id="rId22"/>
    <p:sldId id="277" r:id="rId23"/>
    <p:sldId id="286" r:id="rId24"/>
    <p:sldId id="289" r:id="rId25"/>
    <p:sldId id="285" r:id="rId26"/>
    <p:sldId id="288" r:id="rId27"/>
    <p:sldId id="280" r:id="rId28"/>
    <p:sldId id="265" r:id="rId2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2" name="PlaceHolder 1"/>
          <p:cNvSpPr>
            <a:spLocks noGrp="1"/>
          </p:cNvSpPr>
          <p:nvPr>
            <p:ph type="title"/>
          </p:nvPr>
        </p:nvSpPr>
        <p:spPr>
          <a:xfrm>
            <a:off x="2347920" y="707760"/>
            <a:ext cx="4447800" cy="122508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73"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FFFFFF"/>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2_1">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4_2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3"/>
          <a:stretch/>
        </p:blipFill>
        <p:spPr>
          <a:xfrm>
            <a:off x="0" y="0"/>
            <a:ext cx="9143640" cy="5143320"/>
          </a:xfrm>
          <a:prstGeom prst="rect">
            <a:avLst/>
          </a:prstGeom>
          <a:noFill/>
          <a:ln w="0">
            <a:noFill/>
          </a:ln>
        </p:spPr>
      </p:pic>
      <p:sp>
        <p:nvSpPr>
          <p:cNvPr id="3" name="PlaceHolder 1"/>
          <p:cNvSpPr>
            <a:spLocks noGrp="1"/>
          </p:cNvSpPr>
          <p:nvPr>
            <p:ph type="title"/>
          </p:nvPr>
        </p:nvSpPr>
        <p:spPr>
          <a:xfrm>
            <a:off x="2003760" y="1668240"/>
            <a:ext cx="5119920" cy="1442520"/>
          </a:xfrm>
          <a:prstGeom prst="rect">
            <a:avLst/>
          </a:prstGeom>
          <a:noFill/>
          <a:ln w="0">
            <a:noFill/>
          </a:ln>
        </p:spPr>
        <p:txBody>
          <a:bodyPr lIns="91440" tIns="91440" rIns="91440" bIns="91440" anchor="b">
            <a:noAutofit/>
          </a:bodyPr>
          <a:lstStyle/>
          <a:p>
            <a:pPr indent="0">
              <a:buNone/>
            </a:pPr>
            <a:r>
              <a:rPr lang="fr-FR" sz="4600" b="0" u="none" strike="noStrike">
                <a:solidFill>
                  <a:schemeClr val="dk1"/>
                </a:solidFill>
                <a:effectLst/>
                <a:uFillTx/>
                <a:latin typeface="Arial"/>
              </a:rPr>
              <a:t>Click to edit the title text format</a:t>
            </a:r>
          </a:p>
        </p:txBody>
      </p:sp>
      <p:grpSp>
        <p:nvGrpSpPr>
          <p:cNvPr id="4" name="Google Shape;12;p2"/>
          <p:cNvGrpSpPr/>
          <p:nvPr/>
        </p:nvGrpSpPr>
        <p:grpSpPr>
          <a:xfrm>
            <a:off x="363600" y="272880"/>
            <a:ext cx="8416080" cy="4597200"/>
            <a:chOff x="363600" y="272880"/>
            <a:chExt cx="8416080" cy="4597200"/>
          </a:xfrm>
        </p:grpSpPr>
        <p:pic>
          <p:nvPicPr>
            <p:cNvPr id="5" name="Google Shape;13;p2"/>
            <p:cNvPicPr/>
            <p:nvPr/>
          </p:nvPicPr>
          <p:blipFill>
            <a:blip r:embed="rId4"/>
            <a:stretch/>
          </p:blipFill>
          <p:spPr>
            <a:xfrm>
              <a:off x="363600" y="4551840"/>
              <a:ext cx="2007000" cy="318240"/>
            </a:xfrm>
            <a:prstGeom prst="rect">
              <a:avLst/>
            </a:prstGeom>
            <a:noFill/>
            <a:ln w="0">
              <a:noFill/>
            </a:ln>
          </p:spPr>
        </p:pic>
        <p:pic>
          <p:nvPicPr>
            <p:cNvPr id="6" name="Google Shape;14;p2"/>
            <p:cNvPicPr/>
            <p:nvPr/>
          </p:nvPicPr>
          <p:blipFill>
            <a:blip r:embed="rId4"/>
            <a:stretch/>
          </p:blipFill>
          <p:spPr>
            <a:xfrm>
              <a:off x="6772680" y="272880"/>
              <a:ext cx="2007000" cy="318240"/>
            </a:xfrm>
            <a:prstGeom prst="rect">
              <a:avLst/>
            </a:prstGeom>
            <a:noFill/>
            <a:ln w="0">
              <a:noFill/>
            </a:ln>
          </p:spPr>
        </p:pic>
      </p:grpSp>
      <p:grpSp>
        <p:nvGrpSpPr>
          <p:cNvPr id="7" name="Google Shape;15;p2"/>
          <p:cNvGrpSpPr/>
          <p:nvPr/>
        </p:nvGrpSpPr>
        <p:grpSpPr>
          <a:xfrm>
            <a:off x="795960" y="186120"/>
            <a:ext cx="8026920" cy="4708080"/>
            <a:chOff x="795960" y="186120"/>
            <a:chExt cx="8026920" cy="4708080"/>
          </a:xfrm>
        </p:grpSpPr>
        <p:sp>
          <p:nvSpPr>
            <p:cNvPr id="8" name="Google Shape;16;p2"/>
            <p:cNvSpPr/>
            <p:nvPr/>
          </p:nvSpPr>
          <p:spPr>
            <a:xfrm>
              <a:off x="795960" y="288072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7;p2"/>
            <p:cNvSpPr/>
            <p:nvPr/>
          </p:nvSpPr>
          <p:spPr>
            <a:xfrm>
              <a:off x="8745480" y="11250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8;p2"/>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9;p2"/>
            <p:cNvSpPr/>
            <p:nvPr/>
          </p:nvSpPr>
          <p:spPr>
            <a:xfrm>
              <a:off x="3991680" y="18612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 name="Google Shape;20;p2"/>
          <p:cNvGrpSpPr/>
          <p:nvPr/>
        </p:nvGrpSpPr>
        <p:grpSpPr>
          <a:xfrm>
            <a:off x="5211360" y="2075760"/>
            <a:ext cx="4252320" cy="3328560"/>
            <a:chOff x="5211360" y="2075760"/>
            <a:chExt cx="4252320" cy="3328560"/>
          </a:xfrm>
        </p:grpSpPr>
        <p:grpSp>
          <p:nvGrpSpPr>
            <p:cNvPr id="13" name="Google Shape;21;p2"/>
            <p:cNvGrpSpPr/>
            <p:nvPr/>
          </p:nvGrpSpPr>
          <p:grpSpPr>
            <a:xfrm>
              <a:off x="8487720" y="4095720"/>
              <a:ext cx="437760" cy="938520"/>
              <a:chOff x="8487720" y="4095720"/>
              <a:chExt cx="437760" cy="938520"/>
            </a:xfrm>
          </p:grpSpPr>
          <p:sp>
            <p:nvSpPr>
              <p:cNvPr id="14" name="Google Shape;22;p2"/>
              <p:cNvSpPr/>
              <p:nvPr/>
            </p:nvSpPr>
            <p:spPr>
              <a:xfrm rot="10800000">
                <a:off x="88318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3;p2"/>
              <p:cNvSpPr/>
              <p:nvPr/>
            </p:nvSpPr>
            <p:spPr>
              <a:xfrm rot="10800000">
                <a:off x="88318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4;p2"/>
              <p:cNvSpPr/>
              <p:nvPr/>
            </p:nvSpPr>
            <p:spPr>
              <a:xfrm rot="10800000">
                <a:off x="88318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5;p2"/>
              <p:cNvSpPr/>
              <p:nvPr/>
            </p:nvSpPr>
            <p:spPr>
              <a:xfrm rot="10800000">
                <a:off x="8831880" y="4433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6;p2"/>
              <p:cNvSpPr/>
              <p:nvPr/>
            </p:nvSpPr>
            <p:spPr>
              <a:xfrm rot="10800000">
                <a:off x="8831880" y="42649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27;p2"/>
              <p:cNvSpPr/>
              <p:nvPr/>
            </p:nvSpPr>
            <p:spPr>
              <a:xfrm rot="10800000">
                <a:off x="8831880" y="409572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8;p2"/>
              <p:cNvSpPr/>
              <p:nvPr/>
            </p:nvSpPr>
            <p:spPr>
              <a:xfrm rot="10800000">
                <a:off x="865728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Google Shape;29;p2"/>
              <p:cNvSpPr/>
              <p:nvPr/>
            </p:nvSpPr>
            <p:spPr>
              <a:xfrm rot="10800000">
                <a:off x="865728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30;p2"/>
              <p:cNvSpPr/>
              <p:nvPr/>
            </p:nvSpPr>
            <p:spPr>
              <a:xfrm rot="10800000">
                <a:off x="8657280" y="46029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31;p2"/>
              <p:cNvSpPr/>
              <p:nvPr/>
            </p:nvSpPr>
            <p:spPr>
              <a:xfrm rot="10800000">
                <a:off x="8487720" y="4940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2;p2"/>
              <p:cNvSpPr/>
              <p:nvPr/>
            </p:nvSpPr>
            <p:spPr>
              <a:xfrm rot="10800000">
                <a:off x="8487720" y="47718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5" name="Google Shape;33;p2"/>
            <p:cNvSpPr/>
            <p:nvPr/>
          </p:nvSpPr>
          <p:spPr>
            <a:xfrm rot="10800000">
              <a:off x="8379360" y="23400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6" name="Google Shape;34;p2"/>
            <p:cNvGrpSpPr/>
            <p:nvPr/>
          </p:nvGrpSpPr>
          <p:grpSpPr>
            <a:xfrm>
              <a:off x="5211360" y="2075760"/>
              <a:ext cx="4252320" cy="3328560"/>
              <a:chOff x="5211360" y="2075760"/>
              <a:chExt cx="4252320" cy="3328560"/>
            </a:xfrm>
          </p:grpSpPr>
          <p:sp>
            <p:nvSpPr>
              <p:cNvPr id="27" name="Google Shape;35;p2"/>
              <p:cNvSpPr/>
              <p:nvPr/>
            </p:nvSpPr>
            <p:spPr>
              <a:xfrm rot="10800000">
                <a:off x="5211360" y="2075760"/>
                <a:ext cx="4057200" cy="3222360"/>
              </a:xfrm>
              <a:custGeom>
                <a:avLst/>
                <a:gdLst>
                  <a:gd name="textAreaLeft" fmla="*/ 0 w 4057200"/>
                  <a:gd name="textAreaRight" fmla="*/ 4057560 w 4057200"/>
                  <a:gd name="textAreaTop" fmla="*/ 0 h 3222360"/>
                  <a:gd name="textAreaBottom" fmla="*/ 3222720 h 32223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36;p2"/>
              <p:cNvSpPr/>
              <p:nvPr/>
            </p:nvSpPr>
            <p:spPr>
              <a:xfrm rot="10800000">
                <a:off x="617508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7;p2"/>
              <p:cNvSpPr/>
              <p:nvPr/>
            </p:nvSpPr>
            <p:spPr>
              <a:xfrm rot="10800000">
                <a:off x="7382520" y="390168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30" name="Google Shape;38;p2"/>
              <p:cNvCxnSpPr/>
              <p:nvPr/>
            </p:nvCxnSpPr>
            <p:spPr>
              <a:xfrm flipV="1">
                <a:off x="7458840" y="3346200"/>
                <a:ext cx="2005200" cy="2004840"/>
              </a:xfrm>
              <a:prstGeom prst="straightConnector1">
                <a:avLst/>
              </a:prstGeom>
              <a:ln w="19050">
                <a:solidFill>
                  <a:srgbClr val="FFFFFF"/>
                </a:solidFill>
                <a:round/>
              </a:ln>
            </p:spPr>
          </p:cxnSp>
          <p:grpSp>
            <p:nvGrpSpPr>
              <p:cNvPr id="31" name="Google Shape;39;p2"/>
              <p:cNvGrpSpPr/>
              <p:nvPr/>
            </p:nvGrpSpPr>
            <p:grpSpPr>
              <a:xfrm>
                <a:off x="6207480" y="2556360"/>
                <a:ext cx="2953440" cy="2741760"/>
                <a:chOff x="6207480" y="2556360"/>
                <a:chExt cx="2953440" cy="2741760"/>
              </a:xfrm>
            </p:grpSpPr>
            <p:sp>
              <p:nvSpPr>
                <p:cNvPr id="32" name="Google Shape;40;p2"/>
                <p:cNvSpPr/>
                <p:nvPr/>
              </p:nvSpPr>
              <p:spPr>
                <a:xfrm rot="10800000">
                  <a:off x="6393240" y="255600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1;p2"/>
                <p:cNvSpPr/>
                <p:nvPr/>
              </p:nvSpPr>
              <p:spPr>
                <a:xfrm rot="10800000">
                  <a:off x="6296040" y="298764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2;p2"/>
                <p:cNvSpPr/>
                <p:nvPr/>
              </p:nvSpPr>
              <p:spPr>
                <a:xfrm rot="10800000">
                  <a:off x="6207480" y="32209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5" name="Google Shape;43;p2"/>
              <p:cNvGrpSpPr/>
              <p:nvPr/>
            </p:nvGrpSpPr>
            <p:grpSpPr>
              <a:xfrm>
                <a:off x="5717520" y="2621880"/>
                <a:ext cx="2383200" cy="2130480"/>
                <a:chOff x="5717520" y="2621880"/>
                <a:chExt cx="2383200" cy="2130480"/>
              </a:xfrm>
            </p:grpSpPr>
            <p:sp>
              <p:nvSpPr>
                <p:cNvPr id="36" name="Google Shape;44;p2"/>
                <p:cNvSpPr/>
                <p:nvPr/>
              </p:nvSpPr>
              <p:spPr>
                <a:xfrm rot="10800000">
                  <a:off x="6452640" y="26467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37" name="Google Shape;45;p2"/>
                <p:cNvSpPr/>
                <p:nvPr/>
              </p:nvSpPr>
              <p:spPr>
                <a:xfrm rot="10800000">
                  <a:off x="5796360" y="299052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38" name="Google Shape;46;p2"/>
                <p:cNvSpPr/>
                <p:nvPr/>
              </p:nvSpPr>
              <p:spPr>
                <a:xfrm rot="10800000">
                  <a:off x="6372000" y="41360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47;p2"/>
                <p:cNvSpPr/>
                <p:nvPr/>
              </p:nvSpPr>
              <p:spPr>
                <a:xfrm rot="10800000">
                  <a:off x="5717520" y="46472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48;p2"/>
                <p:cNvSpPr/>
                <p:nvPr/>
              </p:nvSpPr>
              <p:spPr>
                <a:xfrm rot="10800000">
                  <a:off x="7503480" y="29649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1" name="Google Shape;49;p2"/>
                <p:cNvSpPr/>
                <p:nvPr/>
              </p:nvSpPr>
              <p:spPr>
                <a:xfrm rot="10800000">
                  <a:off x="8048160" y="262188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42" name="Google Shape;50;p2"/>
          <p:cNvGrpSpPr/>
          <p:nvPr/>
        </p:nvGrpSpPr>
        <p:grpSpPr>
          <a:xfrm>
            <a:off x="-286920" y="-182160"/>
            <a:ext cx="4251960" cy="3328200"/>
            <a:chOff x="-286920" y="-182160"/>
            <a:chExt cx="4251960" cy="3328200"/>
          </a:xfrm>
        </p:grpSpPr>
        <p:grpSp>
          <p:nvGrpSpPr>
            <p:cNvPr id="43" name="Google Shape;51;p2"/>
            <p:cNvGrpSpPr/>
            <p:nvPr/>
          </p:nvGrpSpPr>
          <p:grpSpPr>
            <a:xfrm>
              <a:off x="250920" y="187560"/>
              <a:ext cx="437760" cy="938520"/>
              <a:chOff x="250920" y="187560"/>
              <a:chExt cx="437760" cy="938520"/>
            </a:xfrm>
          </p:grpSpPr>
          <p:sp>
            <p:nvSpPr>
              <p:cNvPr id="44" name="Google Shape;52;p2"/>
              <p:cNvSpPr/>
              <p:nvPr/>
            </p:nvSpPr>
            <p:spPr>
              <a:xfrm>
                <a:off x="2509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Google Shape;53;p2"/>
              <p:cNvSpPr/>
              <p:nvPr/>
            </p:nvSpPr>
            <p:spPr>
              <a:xfrm>
                <a:off x="2509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54;p2"/>
              <p:cNvSpPr/>
              <p:nvPr/>
            </p:nvSpPr>
            <p:spPr>
              <a:xfrm>
                <a:off x="2509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55;p2"/>
              <p:cNvSpPr/>
              <p:nvPr/>
            </p:nvSpPr>
            <p:spPr>
              <a:xfrm>
                <a:off x="250920" y="6944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6;p2"/>
              <p:cNvSpPr/>
              <p:nvPr/>
            </p:nvSpPr>
            <p:spPr>
              <a:xfrm>
                <a:off x="250920" y="86364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57;p2"/>
              <p:cNvSpPr/>
              <p:nvPr/>
            </p:nvSpPr>
            <p:spPr>
              <a:xfrm>
                <a:off x="250920" y="103248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58;p2"/>
              <p:cNvSpPr/>
              <p:nvPr/>
            </p:nvSpPr>
            <p:spPr>
              <a:xfrm>
                <a:off x="42552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59;p2"/>
              <p:cNvSpPr/>
              <p:nvPr/>
            </p:nvSpPr>
            <p:spPr>
              <a:xfrm>
                <a:off x="42552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2" name="Google Shape;60;p2"/>
              <p:cNvSpPr/>
              <p:nvPr/>
            </p:nvSpPr>
            <p:spPr>
              <a:xfrm>
                <a:off x="425520" y="52560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61;p2"/>
              <p:cNvSpPr/>
              <p:nvPr/>
            </p:nvSpPr>
            <p:spPr>
              <a:xfrm>
                <a:off x="595080" y="1875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4" name="Google Shape;62;p2"/>
              <p:cNvSpPr/>
              <p:nvPr/>
            </p:nvSpPr>
            <p:spPr>
              <a:xfrm>
                <a:off x="595080" y="356760"/>
                <a:ext cx="93600" cy="936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46800" bIns="4680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 name="Google Shape;63;p2"/>
            <p:cNvGrpSpPr/>
            <p:nvPr/>
          </p:nvGrpSpPr>
          <p:grpSpPr>
            <a:xfrm>
              <a:off x="-286920" y="-182160"/>
              <a:ext cx="4251960" cy="3328200"/>
              <a:chOff x="-286920" y="-182160"/>
              <a:chExt cx="4251960" cy="3328200"/>
            </a:xfrm>
          </p:grpSpPr>
          <p:sp>
            <p:nvSpPr>
              <p:cNvPr id="56" name="Google Shape;64;p2"/>
              <p:cNvSpPr/>
              <p:nvPr/>
            </p:nvSpPr>
            <p:spPr>
              <a:xfrm>
                <a:off x="-92160" y="-76320"/>
                <a:ext cx="4057200" cy="3222360"/>
              </a:xfrm>
              <a:custGeom>
                <a:avLst/>
                <a:gdLst>
                  <a:gd name="textAreaLeft" fmla="*/ 0 w 4057200"/>
                  <a:gd name="textAreaRight" fmla="*/ 4057560 w 4057200"/>
                  <a:gd name="textAreaTop" fmla="*/ 0 h 3222360"/>
                  <a:gd name="textAreaBottom" fmla="*/ 3222720 h 32223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65;p2"/>
              <p:cNvSpPr/>
              <p:nvPr/>
            </p:nvSpPr>
            <p:spPr>
              <a:xfrm>
                <a:off x="-763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66;p2"/>
              <p:cNvSpPr/>
              <p:nvPr/>
            </p:nvSpPr>
            <p:spPr>
              <a:xfrm>
                <a:off x="-97920" y="-182160"/>
                <a:ext cx="1891800" cy="1502640"/>
              </a:xfrm>
              <a:custGeom>
                <a:avLst/>
                <a:gdLst>
                  <a:gd name="textAreaLeft" fmla="*/ 0 w 1891800"/>
                  <a:gd name="textAreaRight" fmla="*/ 189216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59" name="Google Shape;67;p2"/>
              <p:cNvCxnSpPr/>
              <p:nvPr/>
            </p:nvCxnSpPr>
            <p:spPr>
              <a:xfrm flipH="1">
                <a:off x="-286920" y="-128880"/>
                <a:ext cx="2004480" cy="2004840"/>
              </a:xfrm>
              <a:prstGeom prst="straightConnector1">
                <a:avLst/>
              </a:prstGeom>
              <a:ln w="19050">
                <a:solidFill>
                  <a:srgbClr val="FFFFFF"/>
                </a:solidFill>
                <a:round/>
              </a:ln>
            </p:spPr>
          </p:cxnSp>
          <p:grpSp>
            <p:nvGrpSpPr>
              <p:cNvPr id="60" name="Google Shape;68;p2"/>
              <p:cNvGrpSpPr/>
              <p:nvPr/>
            </p:nvGrpSpPr>
            <p:grpSpPr>
              <a:xfrm>
                <a:off x="15480" y="-76320"/>
                <a:ext cx="2953440" cy="2741760"/>
                <a:chOff x="15480" y="-76320"/>
                <a:chExt cx="2953440" cy="2741760"/>
              </a:xfrm>
            </p:grpSpPr>
            <p:sp>
              <p:nvSpPr>
                <p:cNvPr id="61" name="Google Shape;69;p2"/>
                <p:cNvSpPr/>
                <p:nvPr/>
              </p:nvSpPr>
              <p:spPr>
                <a:xfrm>
                  <a:off x="15480" y="-76320"/>
                  <a:ext cx="2767680" cy="2741760"/>
                </a:xfrm>
                <a:custGeom>
                  <a:avLst/>
                  <a:gdLst>
                    <a:gd name="textAreaLeft" fmla="*/ 0 w 2767680"/>
                    <a:gd name="textAreaRight" fmla="*/ 2768040 w 2767680"/>
                    <a:gd name="textAreaTop" fmla="*/ 0 h 2741760"/>
                    <a:gd name="textAreaBottom" fmla="*/ 2742120 h 274176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70;p2"/>
                <p:cNvSpPr/>
                <p:nvPr/>
              </p:nvSpPr>
              <p:spPr>
                <a:xfrm>
                  <a:off x="543600" y="-76320"/>
                  <a:ext cx="2336760" cy="2310480"/>
                </a:xfrm>
                <a:custGeom>
                  <a:avLst/>
                  <a:gdLst>
                    <a:gd name="textAreaLeft" fmla="*/ 0 w 2336760"/>
                    <a:gd name="textAreaRight" fmla="*/ 2337120 w 2336760"/>
                    <a:gd name="textAreaTop" fmla="*/ 0 h 2310480"/>
                    <a:gd name="textAreaBottom" fmla="*/ 2310840 h 231048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71;p2"/>
                <p:cNvSpPr/>
                <p:nvPr/>
              </p:nvSpPr>
              <p:spPr>
                <a:xfrm>
                  <a:off x="869040" y="-76320"/>
                  <a:ext cx="2099880" cy="2077200"/>
                </a:xfrm>
                <a:custGeom>
                  <a:avLst/>
                  <a:gdLst>
                    <a:gd name="textAreaLeft" fmla="*/ 0 w 2099880"/>
                    <a:gd name="textAreaRight" fmla="*/ 2100240 w 2099880"/>
                    <a:gd name="textAreaTop" fmla="*/ 0 h 2077200"/>
                    <a:gd name="textAreaBottom" fmla="*/ 2077560 h 207720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4" name="Google Shape;72;p2"/>
              <p:cNvGrpSpPr/>
              <p:nvPr/>
            </p:nvGrpSpPr>
            <p:grpSpPr>
              <a:xfrm>
                <a:off x="1076040" y="469800"/>
                <a:ext cx="2382840" cy="2130120"/>
                <a:chOff x="1076040" y="469800"/>
                <a:chExt cx="2382840" cy="2130120"/>
              </a:xfrm>
            </p:grpSpPr>
            <p:sp>
              <p:nvSpPr>
                <p:cNvPr id="65" name="Google Shape;73;p2"/>
                <p:cNvSpPr/>
                <p:nvPr/>
              </p:nvSpPr>
              <p:spPr>
                <a:xfrm>
                  <a:off x="1100160" y="1060920"/>
                  <a:ext cx="1623600" cy="1514520"/>
                </a:xfrm>
                <a:custGeom>
                  <a:avLst/>
                  <a:gdLst>
                    <a:gd name="textAreaLeft" fmla="*/ 0 w 1623600"/>
                    <a:gd name="textAreaRight" fmla="*/ 1623960 w 1623600"/>
                    <a:gd name="textAreaTop" fmla="*/ 0 h 1514520"/>
                    <a:gd name="textAreaBottom" fmla="*/ 1514880 h 1514520"/>
                  </a:gdLst>
                  <a:ahLst/>
                  <a:cxnLst/>
                  <a:rect l="textAreaLeft" t="textAreaTop" r="textAreaRight" b="textAreaBottom"/>
                  <a:pathLst>
                    <a:path w="78603" h="73328">
                      <a:moveTo>
                        <a:pt x="0" y="73328"/>
                      </a:moveTo>
                      <a:lnTo>
                        <a:pt x="24478" y="48850"/>
                      </a:lnTo>
                      <a:lnTo>
                        <a:pt x="41781" y="48850"/>
                      </a:lnTo>
                      <a:lnTo>
                        <a:pt x="59295" y="31336"/>
                      </a:lnTo>
                      <a:lnTo>
                        <a:pt x="59295" y="19308"/>
                      </a:lnTo>
                      <a:lnTo>
                        <a:pt x="78603" y="0"/>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66" name="Google Shape;74;p2"/>
                <p:cNvSpPr/>
                <p:nvPr/>
              </p:nvSpPr>
              <p:spPr>
                <a:xfrm>
                  <a:off x="1646280" y="548280"/>
                  <a:ext cx="1733760" cy="1683360"/>
                </a:xfrm>
                <a:custGeom>
                  <a:avLst/>
                  <a:gdLst>
                    <a:gd name="textAreaLeft" fmla="*/ 0 w 1733760"/>
                    <a:gd name="textAreaRight" fmla="*/ 1734120 w 1733760"/>
                    <a:gd name="textAreaTop" fmla="*/ 0 h 1683360"/>
                    <a:gd name="textAreaBottom" fmla="*/ 1683720 h 1683360"/>
                  </a:gdLst>
                  <a:ahLst/>
                  <a:cxnLst/>
                  <a:rect l="textAreaLeft" t="textAreaTop" r="textAreaRight" b="textAreaBottom"/>
                  <a:pathLst>
                    <a:path w="83931" h="81505">
                      <a:moveTo>
                        <a:pt x="83931" y="0"/>
                      </a:moveTo>
                      <a:lnTo>
                        <a:pt x="63463" y="20468"/>
                      </a:lnTo>
                      <a:lnTo>
                        <a:pt x="63463" y="33340"/>
                      </a:lnTo>
                      <a:lnTo>
                        <a:pt x="43944" y="52859"/>
                      </a:lnTo>
                      <a:lnTo>
                        <a:pt x="28645" y="52859"/>
                      </a:lnTo>
                      <a:lnTo>
                        <a:pt x="0" y="81505"/>
                      </a:lnTo>
                    </a:path>
                  </a:pathLst>
                </a:custGeom>
                <a:noFill/>
                <a:ln w="9525">
                  <a:solidFill>
                    <a:srgbClr val="006E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OpenSymbol"/>
                  </a:endParaRPr>
                </a:p>
              </p:txBody>
            </p:sp>
            <p:sp>
              <p:nvSpPr>
                <p:cNvPr id="67" name="Google Shape;75;p2"/>
                <p:cNvSpPr/>
                <p:nvPr/>
              </p:nvSpPr>
              <p:spPr>
                <a:xfrm>
                  <a:off x="2699640" y="98064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76;p2"/>
                <p:cNvSpPr/>
                <p:nvPr/>
              </p:nvSpPr>
              <p:spPr>
                <a:xfrm>
                  <a:off x="3353760" y="469800"/>
                  <a:ext cx="105120" cy="105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37440" bIns="37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77;p2"/>
                <p:cNvSpPr/>
                <p:nvPr/>
              </p:nvSpPr>
              <p:spPr>
                <a:xfrm>
                  <a:off x="1620360" y="220464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78;p2"/>
                <p:cNvSpPr/>
                <p:nvPr/>
              </p:nvSpPr>
              <p:spPr>
                <a:xfrm>
                  <a:off x="1076040" y="2547360"/>
                  <a:ext cx="52560" cy="525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grpSp>
      <p:sp>
        <p:nvSpPr>
          <p:cNvPr id="7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4" name="Google Shape;492;p17"/>
          <p:cNvPicPr/>
          <p:nvPr/>
        </p:nvPicPr>
        <p:blipFill>
          <a:blip r:embed="rId3"/>
          <a:stretch/>
        </p:blipFill>
        <p:spPr>
          <a:xfrm flipH="1">
            <a:off x="360" y="0"/>
            <a:ext cx="9143640" cy="5143320"/>
          </a:xfrm>
          <a:prstGeom prst="rect">
            <a:avLst/>
          </a:prstGeom>
          <a:noFill/>
          <a:ln w="0">
            <a:noFill/>
          </a:ln>
        </p:spPr>
      </p:pic>
      <p:sp>
        <p:nvSpPr>
          <p:cNvPr id="7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76" name="Google Shape;494;p17"/>
          <p:cNvGrpSpPr/>
          <p:nvPr/>
        </p:nvGrpSpPr>
        <p:grpSpPr>
          <a:xfrm>
            <a:off x="-189360" y="0"/>
            <a:ext cx="1476000" cy="1172160"/>
            <a:chOff x="-189360" y="0"/>
            <a:chExt cx="1476000" cy="1172160"/>
          </a:xfrm>
        </p:grpSpPr>
        <p:sp>
          <p:nvSpPr>
            <p:cNvPr id="77" name="Google Shape;495;p17"/>
            <p:cNvSpPr/>
            <p:nvPr/>
          </p:nvSpPr>
          <p:spPr>
            <a:xfrm>
              <a:off x="-189360" y="0"/>
              <a:ext cx="1476000" cy="1172160"/>
            </a:xfrm>
            <a:custGeom>
              <a:avLst/>
              <a:gdLst>
                <a:gd name="textAreaLeft" fmla="*/ 0 w 1476000"/>
                <a:gd name="textAreaRight" fmla="*/ 1476360 w 1476000"/>
                <a:gd name="textAreaTop" fmla="*/ 0 h 1172160"/>
                <a:gd name="textAreaBottom" fmla="*/ 1172520 h 117216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496;p17"/>
            <p:cNvSpPr/>
            <p:nvPr/>
          </p:nvSpPr>
          <p:spPr>
            <a:xfrm>
              <a:off x="-189360" y="0"/>
              <a:ext cx="1072440" cy="281520"/>
            </a:xfrm>
            <a:custGeom>
              <a:avLst/>
              <a:gdLst>
                <a:gd name="textAreaLeft" fmla="*/ 0 w 1072440"/>
                <a:gd name="textAreaRight" fmla="*/ 1072800 w 1072440"/>
                <a:gd name="textAreaTop" fmla="*/ 0 h 281520"/>
                <a:gd name="textAreaBottom" fmla="*/ 281880 h 28152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 name="Google Shape;497;p17"/>
          <p:cNvGrpSpPr/>
          <p:nvPr/>
        </p:nvGrpSpPr>
        <p:grpSpPr>
          <a:xfrm>
            <a:off x="356040" y="1189800"/>
            <a:ext cx="8184240" cy="3666240"/>
            <a:chOff x="356040" y="1189800"/>
            <a:chExt cx="8184240" cy="3666240"/>
          </a:xfrm>
        </p:grpSpPr>
        <p:sp>
          <p:nvSpPr>
            <p:cNvPr id="80" name="Google Shape;498;p17"/>
            <p:cNvSpPr/>
            <p:nvPr/>
          </p:nvSpPr>
          <p:spPr>
            <a:xfrm rot="10800000">
              <a:off x="356040" y="18903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499;p17"/>
            <p:cNvSpPr/>
            <p:nvPr/>
          </p:nvSpPr>
          <p:spPr>
            <a:xfrm>
              <a:off x="8462880" y="118980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500;p17"/>
            <p:cNvSpPr/>
            <p:nvPr/>
          </p:nvSpPr>
          <p:spPr>
            <a:xfrm>
              <a:off x="5277600" y="47786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84" name="Google Shape;502;p18"/>
          <p:cNvPicPr/>
          <p:nvPr/>
        </p:nvPicPr>
        <p:blipFill>
          <a:blip r:embed="rId3"/>
          <a:stretch/>
        </p:blipFill>
        <p:spPr>
          <a:xfrm flipH="1">
            <a:off x="360" y="0"/>
            <a:ext cx="9143640" cy="5143320"/>
          </a:xfrm>
          <a:prstGeom prst="rect">
            <a:avLst/>
          </a:prstGeom>
          <a:noFill/>
          <a:ln w="0">
            <a:noFill/>
          </a:ln>
        </p:spPr>
      </p:pic>
      <p:sp>
        <p:nvSpPr>
          <p:cNvPr id="85" name="PlaceHolder 1"/>
          <p:cNvSpPr>
            <a:spLocks noGrp="1"/>
          </p:cNvSpPr>
          <p:nvPr>
            <p:ph type="title"/>
          </p:nvPr>
        </p:nvSpPr>
        <p:spPr>
          <a:xfrm>
            <a:off x="1022040" y="1231920"/>
            <a:ext cx="3436920" cy="180972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86" name="PlaceHolder 2"/>
          <p:cNvSpPr>
            <a:spLocks noGrp="1"/>
          </p:cNvSpPr>
          <p:nvPr>
            <p:ph type="body"/>
          </p:nvPr>
        </p:nvSpPr>
        <p:spPr>
          <a:xfrm>
            <a:off x="4847400" y="981360"/>
            <a:ext cx="3274200" cy="3180960"/>
          </a:xfrm>
          <a:prstGeom prst="rect">
            <a:avLst/>
          </a:prstGeom>
          <a:noFill/>
          <a:ln w="9360">
            <a:solidFill>
              <a:schemeClr val="dk1"/>
            </a:solidFill>
            <a:round/>
          </a:ln>
        </p:spPr>
        <p:txBody>
          <a:bodyPr lIns="90000" tIns="45000" rIns="90000" bIns="45000" anchor="t">
            <a:normAutofit fontScale="5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87" name="Google Shape;506;p18"/>
          <p:cNvSpPr/>
          <p:nvPr/>
        </p:nvSpPr>
        <p:spPr>
          <a:xfrm rot="10800000">
            <a:off x="6104880" y="2682720"/>
            <a:ext cx="3098160" cy="2460600"/>
          </a:xfrm>
          <a:custGeom>
            <a:avLst/>
            <a:gdLst>
              <a:gd name="textAreaLeft" fmla="*/ 0 w 3098160"/>
              <a:gd name="textAreaRight" fmla="*/ 3098520 w 3098160"/>
              <a:gd name="textAreaTop" fmla="*/ 0 h 2460600"/>
              <a:gd name="textAreaBottom" fmla="*/ 2460960 h 246060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507;p18"/>
          <p:cNvSpPr/>
          <p:nvPr/>
        </p:nvSpPr>
        <p:spPr>
          <a:xfrm rot="10800000">
            <a:off x="6936480" y="4552920"/>
            <a:ext cx="2250720" cy="590760"/>
          </a:xfrm>
          <a:custGeom>
            <a:avLst/>
            <a:gdLst>
              <a:gd name="textAreaLeft" fmla="*/ 0 w 2250720"/>
              <a:gd name="textAreaRight" fmla="*/ 2251080 w 2250720"/>
              <a:gd name="textAreaTop" fmla="*/ 0 h 590760"/>
              <a:gd name="textAreaBottom" fmla="*/ 591120 h 590760"/>
            </a:gdLst>
            <a:ahLst/>
            <a:cxnLst/>
            <a:rect l="textAreaLeft" t="textAreaTop" r="textAreaRight" b="textAreaBottom"/>
            <a:pathLst>
              <a:path w="1409" h="36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9" name="Google Shape;508;p18"/>
          <p:cNvGrpSpPr/>
          <p:nvPr/>
        </p:nvGrpSpPr>
        <p:grpSpPr>
          <a:xfrm>
            <a:off x="6381360" y="3529080"/>
            <a:ext cx="3153240" cy="940320"/>
            <a:chOff x="6381360" y="3529080"/>
            <a:chExt cx="3153240" cy="940320"/>
          </a:xfrm>
        </p:grpSpPr>
        <p:sp>
          <p:nvSpPr>
            <p:cNvPr id="90" name="Google Shape;509;p18"/>
            <p:cNvSpPr/>
            <p:nvPr/>
          </p:nvSpPr>
          <p:spPr>
            <a:xfrm rot="10800000">
              <a:off x="6381360" y="3532320"/>
              <a:ext cx="3153240" cy="937080"/>
            </a:xfrm>
            <a:custGeom>
              <a:avLst/>
              <a:gdLst>
                <a:gd name="textAreaLeft" fmla="*/ 0 w 3153240"/>
                <a:gd name="textAreaRight" fmla="*/ 315360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 name="Google Shape;510;p18"/>
            <p:cNvSpPr/>
            <p:nvPr/>
          </p:nvSpPr>
          <p:spPr>
            <a:xfrm rot="10800000">
              <a:off x="7370640" y="3529080"/>
              <a:ext cx="1821600" cy="398880"/>
            </a:xfrm>
            <a:custGeom>
              <a:avLst/>
              <a:gdLst>
                <a:gd name="textAreaLeft" fmla="*/ 0 w 1821600"/>
                <a:gd name="textAreaRight" fmla="*/ 182196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511;p18"/>
            <p:cNvSpPr/>
            <p:nvPr/>
          </p:nvSpPr>
          <p:spPr>
            <a:xfrm rot="10800000">
              <a:off x="7124760" y="3632400"/>
              <a:ext cx="2067480" cy="399600"/>
            </a:xfrm>
            <a:custGeom>
              <a:avLst/>
              <a:gdLst>
                <a:gd name="textAreaLeft" fmla="*/ 0 w 2067480"/>
                <a:gd name="textAreaRight" fmla="*/ 206784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512;p18"/>
            <p:cNvSpPr/>
            <p:nvPr/>
          </p:nvSpPr>
          <p:spPr>
            <a:xfrm rot="10800000">
              <a:off x="7347600" y="3902040"/>
              <a:ext cx="46800" cy="46800"/>
            </a:xfrm>
            <a:custGeom>
              <a:avLst/>
              <a:gdLst>
                <a:gd name="textAreaLeft" fmla="*/ 0 w 46800"/>
                <a:gd name="textAreaRight" fmla="*/ 4716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513;p18"/>
            <p:cNvSpPr/>
            <p:nvPr/>
          </p:nvSpPr>
          <p:spPr>
            <a:xfrm rot="10800000">
              <a:off x="7098480" y="4002840"/>
              <a:ext cx="49680" cy="49680"/>
            </a:xfrm>
            <a:custGeom>
              <a:avLst/>
              <a:gdLst>
                <a:gd name="textAreaLeft" fmla="*/ 0 w 49680"/>
                <a:gd name="textAreaRight" fmla="*/ 5004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5" name="Google Shape;514;p18"/>
          <p:cNvSpPr/>
          <p:nvPr/>
        </p:nvSpPr>
        <p:spPr>
          <a:xfrm>
            <a:off x="-763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6" name="Google Shape;515;p18"/>
          <p:cNvGrpSpPr/>
          <p:nvPr/>
        </p:nvGrpSpPr>
        <p:grpSpPr>
          <a:xfrm>
            <a:off x="394920" y="281160"/>
            <a:ext cx="8294040" cy="4613040"/>
            <a:chOff x="394920" y="281160"/>
            <a:chExt cx="8294040" cy="4613040"/>
          </a:xfrm>
        </p:grpSpPr>
        <p:sp>
          <p:nvSpPr>
            <p:cNvPr id="97" name="Google Shape;516;p18"/>
            <p:cNvSpPr/>
            <p:nvPr/>
          </p:nvSpPr>
          <p:spPr>
            <a:xfrm>
              <a:off x="394920" y="323964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517;p18"/>
            <p:cNvSpPr/>
            <p:nvPr/>
          </p:nvSpPr>
          <p:spPr>
            <a:xfrm>
              <a:off x="2140560" y="2811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518;p18"/>
            <p:cNvSpPr/>
            <p:nvPr/>
          </p:nvSpPr>
          <p:spPr>
            <a:xfrm>
              <a:off x="3991680" y="481680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519;p18"/>
            <p:cNvSpPr/>
            <p:nvPr/>
          </p:nvSpPr>
          <p:spPr>
            <a:xfrm rot="10800000">
              <a:off x="8611560" y="9039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 bg1="lt1" tx1="dk1" bg2="dk2" tx2="lt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01" name="Google Shape;571;p22"/>
          <p:cNvPicPr/>
          <p:nvPr/>
        </p:nvPicPr>
        <p:blipFill>
          <a:blip r:embed="rId3"/>
          <a:stretch/>
        </p:blipFill>
        <p:spPr>
          <a:xfrm flipH="1">
            <a:off x="360" y="0"/>
            <a:ext cx="9143640" cy="5143320"/>
          </a:xfrm>
          <a:prstGeom prst="rect">
            <a:avLst/>
          </a:prstGeom>
          <a:noFill/>
          <a:ln w="0">
            <a:noFill/>
          </a:ln>
        </p:spPr>
      </p:pic>
      <p:sp>
        <p:nvSpPr>
          <p:cNvPr id="102" name="PlaceHolder 1"/>
          <p:cNvSpPr>
            <a:spLocks noGrp="1"/>
          </p:cNvSpPr>
          <p:nvPr>
            <p:ph type="title"/>
          </p:nvPr>
        </p:nvSpPr>
        <p:spPr>
          <a:xfrm>
            <a:off x="2201760" y="1821600"/>
            <a:ext cx="4740480" cy="572400"/>
          </a:xfrm>
          <a:prstGeom prst="rect">
            <a:avLst/>
          </a:prstGeom>
          <a:noFill/>
          <a:ln w="0">
            <a:noFill/>
          </a:ln>
        </p:spPr>
        <p:txBody>
          <a:bodyPr lIns="91440" tIns="91440" rIns="91440" bIns="91440" anchor="b">
            <a:noAutofit/>
          </a:bodyPr>
          <a:lstStyle/>
          <a:p>
            <a:pPr indent="0">
              <a:buNone/>
            </a:pPr>
            <a:r>
              <a:rPr lang="fr-FR" sz="3400" b="0" u="none" strike="noStrike">
                <a:solidFill>
                  <a:schemeClr val="dk1"/>
                </a:solidFill>
                <a:effectLst/>
                <a:uFillTx/>
                <a:latin typeface="Arial"/>
              </a:rPr>
              <a:t>Click to edit the title text format</a:t>
            </a:r>
          </a:p>
        </p:txBody>
      </p:sp>
      <p:grpSp>
        <p:nvGrpSpPr>
          <p:cNvPr id="103" name="Google Shape;574;p22"/>
          <p:cNvGrpSpPr/>
          <p:nvPr/>
        </p:nvGrpSpPr>
        <p:grpSpPr>
          <a:xfrm>
            <a:off x="-92520" y="-89640"/>
            <a:ext cx="9329040" cy="5769000"/>
            <a:chOff x="-92520" y="-89640"/>
            <a:chExt cx="9329040" cy="5769000"/>
          </a:xfrm>
        </p:grpSpPr>
        <p:grpSp>
          <p:nvGrpSpPr>
            <p:cNvPr id="104" name="Google Shape;575;p22"/>
            <p:cNvGrpSpPr/>
            <p:nvPr/>
          </p:nvGrpSpPr>
          <p:grpSpPr>
            <a:xfrm>
              <a:off x="-92520" y="-89640"/>
              <a:ext cx="2588040" cy="2402280"/>
              <a:chOff x="-92520" y="-89640"/>
              <a:chExt cx="2588040" cy="2402280"/>
            </a:xfrm>
          </p:grpSpPr>
          <p:sp>
            <p:nvSpPr>
              <p:cNvPr id="105" name="Google Shape;576;p22"/>
              <p:cNvSpPr/>
              <p:nvPr/>
            </p:nvSpPr>
            <p:spPr>
              <a:xfrm>
                <a:off x="-92520" y="-8964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577;p22"/>
              <p:cNvSpPr/>
              <p:nvPr/>
            </p:nvSpPr>
            <p:spPr>
              <a:xfrm>
                <a:off x="370080" y="-8964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578;p22"/>
              <p:cNvSpPr/>
              <p:nvPr/>
            </p:nvSpPr>
            <p:spPr>
              <a:xfrm>
                <a:off x="655560" y="-8964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gradFill rotWithShape="0">
                <a:gsLst>
                  <a:gs pos="0">
                    <a:srgbClr val="FFFFFF"/>
                  </a:gs>
                  <a:gs pos="100000">
                    <a:srgbClr val="C5B9B9">
                      <a:alpha val="24000"/>
                    </a:srgbClr>
                  </a:gs>
                </a:gsLst>
                <a:lin ang="8100000"/>
              </a:gra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8" name="Google Shape;579;p22"/>
            <p:cNvGrpSpPr/>
            <p:nvPr/>
          </p:nvGrpSpPr>
          <p:grpSpPr>
            <a:xfrm>
              <a:off x="6648480" y="3277080"/>
              <a:ext cx="2588040" cy="2402280"/>
              <a:chOff x="6648480" y="3277080"/>
              <a:chExt cx="2588040" cy="2402280"/>
            </a:xfrm>
          </p:grpSpPr>
          <p:sp>
            <p:nvSpPr>
              <p:cNvPr id="109" name="Google Shape;580;p22"/>
              <p:cNvSpPr/>
              <p:nvPr/>
            </p:nvSpPr>
            <p:spPr>
              <a:xfrm rot="10800000">
                <a:off x="6811560" y="3277080"/>
                <a:ext cx="2424960" cy="2402280"/>
              </a:xfrm>
              <a:custGeom>
                <a:avLst/>
                <a:gdLst>
                  <a:gd name="textAreaLeft" fmla="*/ 0 w 2424960"/>
                  <a:gd name="textAreaRight" fmla="*/ 2425320 w 2424960"/>
                  <a:gd name="textAreaTop" fmla="*/ 0 h 2402280"/>
                  <a:gd name="textAreaBottom" fmla="*/ 2402640 h 2402280"/>
                </a:gdLst>
                <a:ahLst/>
                <a:cxnLst/>
                <a:rect l="textAreaLeft" t="textAreaTop" r="textAreaRight" b="textAreaBottom"/>
                <a:pathLst>
                  <a:path w="2325" h="2303">
                    <a:moveTo>
                      <a:pt x="2325" y="0"/>
                    </a:moveTo>
                    <a:lnTo>
                      <a:pt x="2285" y="0"/>
                    </a:lnTo>
                    <a:lnTo>
                      <a:pt x="0" y="2303"/>
                    </a:lnTo>
                    <a:lnTo>
                      <a:pt x="2325"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581;p22"/>
              <p:cNvSpPr/>
              <p:nvPr/>
            </p:nvSpPr>
            <p:spPr>
              <a:xfrm rot="10800000">
                <a:off x="6726600" y="3654720"/>
                <a:ext cx="2047320" cy="2024640"/>
              </a:xfrm>
              <a:custGeom>
                <a:avLst/>
                <a:gdLst>
                  <a:gd name="textAreaLeft" fmla="*/ 0 w 2047320"/>
                  <a:gd name="textAreaRight" fmla="*/ 2047680 w 2047320"/>
                  <a:gd name="textAreaTop" fmla="*/ 0 h 2024640"/>
                  <a:gd name="textAreaBottom" fmla="*/ 2025000 h 2024640"/>
                </a:gdLst>
                <a:ahLst/>
                <a:cxnLst/>
                <a:rect l="textAreaLeft" t="textAreaTop" r="textAreaRight" b="textAreaBottom"/>
                <a:pathLst>
                  <a:path w="1963" h="1941">
                    <a:moveTo>
                      <a:pt x="1963" y="0"/>
                    </a:moveTo>
                    <a:lnTo>
                      <a:pt x="1929" y="0"/>
                    </a:lnTo>
                    <a:lnTo>
                      <a:pt x="0" y="1941"/>
                    </a:lnTo>
                    <a:lnTo>
                      <a:pt x="1963"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582;p22"/>
              <p:cNvSpPr/>
              <p:nvPr/>
            </p:nvSpPr>
            <p:spPr>
              <a:xfrm rot="10800000">
                <a:off x="6648480" y="3859200"/>
                <a:ext cx="1839960" cy="1820160"/>
              </a:xfrm>
              <a:custGeom>
                <a:avLst/>
                <a:gdLst>
                  <a:gd name="textAreaLeft" fmla="*/ 0 w 1839960"/>
                  <a:gd name="textAreaRight" fmla="*/ 1840320 w 1839960"/>
                  <a:gd name="textAreaTop" fmla="*/ 0 h 1820160"/>
                  <a:gd name="textAreaBottom" fmla="*/ 1820520 h 1820160"/>
                </a:gdLst>
                <a:ahLst/>
                <a:cxnLst/>
                <a:rect l="textAreaLeft" t="textAreaTop" r="textAreaRight" b="textAreaBottom"/>
                <a:pathLst>
                  <a:path w="1764" h="1745">
                    <a:moveTo>
                      <a:pt x="1764" y="0"/>
                    </a:moveTo>
                    <a:lnTo>
                      <a:pt x="1732" y="0"/>
                    </a:lnTo>
                    <a:lnTo>
                      <a:pt x="0" y="1745"/>
                    </a:lnTo>
                    <a:lnTo>
                      <a:pt x="1764"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2" name="Google Shape;583;p22"/>
          <p:cNvGrpSpPr/>
          <p:nvPr/>
        </p:nvGrpSpPr>
        <p:grpSpPr>
          <a:xfrm>
            <a:off x="474840" y="500760"/>
            <a:ext cx="8246880" cy="4308480"/>
            <a:chOff x="474840" y="500760"/>
            <a:chExt cx="8246880" cy="4308480"/>
          </a:xfrm>
        </p:grpSpPr>
        <p:sp>
          <p:nvSpPr>
            <p:cNvPr id="113" name="Google Shape;584;p22"/>
            <p:cNvSpPr/>
            <p:nvPr/>
          </p:nvSpPr>
          <p:spPr>
            <a:xfrm rot="10800000">
              <a:off x="8644320" y="283176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585;p22"/>
            <p:cNvSpPr/>
            <p:nvPr/>
          </p:nvSpPr>
          <p:spPr>
            <a:xfrm>
              <a:off x="8539200" y="124308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586;p22"/>
            <p:cNvSpPr/>
            <p:nvPr/>
          </p:nvSpPr>
          <p:spPr>
            <a:xfrm>
              <a:off x="474840" y="2450880"/>
              <a:ext cx="77400" cy="774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587;p22"/>
            <p:cNvSpPr/>
            <p:nvPr/>
          </p:nvSpPr>
          <p:spPr>
            <a:xfrm>
              <a:off x="2851200" y="50076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588;p22"/>
            <p:cNvSpPr/>
            <p:nvPr/>
          </p:nvSpPr>
          <p:spPr>
            <a:xfrm>
              <a:off x="6423120" y="4731840"/>
              <a:ext cx="77400" cy="77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8880" bIns="3888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8" name="Google Shape;589;p22"/>
          <p:cNvGrpSpPr/>
          <p:nvPr/>
        </p:nvGrpSpPr>
        <p:grpSpPr>
          <a:xfrm>
            <a:off x="-456120" y="2313000"/>
            <a:ext cx="3468960" cy="3091320"/>
            <a:chOff x="-456120" y="2313000"/>
            <a:chExt cx="3468960" cy="3091320"/>
          </a:xfrm>
        </p:grpSpPr>
        <p:sp>
          <p:nvSpPr>
            <p:cNvPr id="119" name="Google Shape;590;p22"/>
            <p:cNvSpPr/>
            <p:nvPr/>
          </p:nvSpPr>
          <p:spPr>
            <a:xfrm rot="10800000" flipH="1">
              <a:off x="-65160" y="231300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0" name="Google Shape;591;p22"/>
            <p:cNvSpPr/>
            <p:nvPr/>
          </p:nvSpPr>
          <p:spPr>
            <a:xfrm rot="10800000" flipH="1">
              <a:off x="-86760" y="390168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1" name="Google Shape;592;p22"/>
            <p:cNvGrpSpPr/>
            <p:nvPr/>
          </p:nvGrpSpPr>
          <p:grpSpPr>
            <a:xfrm>
              <a:off x="-456120" y="3922920"/>
              <a:ext cx="3153240" cy="939960"/>
              <a:chOff x="-456120" y="3922920"/>
              <a:chExt cx="3153240" cy="939960"/>
            </a:xfrm>
          </p:grpSpPr>
          <p:sp>
            <p:nvSpPr>
              <p:cNvPr id="122" name="Google Shape;593;p22"/>
              <p:cNvSpPr/>
              <p:nvPr/>
            </p:nvSpPr>
            <p:spPr>
              <a:xfrm flipV="1">
                <a:off x="-455760" y="3925440"/>
                <a:ext cx="3153240" cy="937080"/>
              </a:xfrm>
              <a:custGeom>
                <a:avLst/>
                <a:gdLst>
                  <a:gd name="textAreaLeft" fmla="*/ 0 w 3153240"/>
                  <a:gd name="textAreaRight" fmla="*/ 3153600 w 3153240"/>
                  <a:gd name="textAreaTop" fmla="*/ -360 h 937080"/>
                  <a:gd name="textAreaBottom" fmla="*/ 93708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594;p22"/>
              <p:cNvSpPr/>
              <p:nvPr/>
            </p:nvSpPr>
            <p:spPr>
              <a:xfrm flipV="1">
                <a:off x="-113760" y="3922920"/>
                <a:ext cx="1821600" cy="398880"/>
              </a:xfrm>
              <a:custGeom>
                <a:avLst/>
                <a:gdLst>
                  <a:gd name="textAreaLeft" fmla="*/ 0 w 1821600"/>
                  <a:gd name="textAreaRight" fmla="*/ 1821960 w 1821600"/>
                  <a:gd name="textAreaTop" fmla="*/ 360 h 398880"/>
                  <a:gd name="textAreaBottom" fmla="*/ 39960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595;p22"/>
              <p:cNvSpPr/>
              <p:nvPr/>
            </p:nvSpPr>
            <p:spPr>
              <a:xfrm flipV="1">
                <a:off x="-113760" y="4026240"/>
                <a:ext cx="2067480" cy="399600"/>
              </a:xfrm>
              <a:custGeom>
                <a:avLst/>
                <a:gdLst>
                  <a:gd name="textAreaLeft" fmla="*/ 0 w 2067480"/>
                  <a:gd name="textAreaRight" fmla="*/ 2067840 w 2067480"/>
                  <a:gd name="textAreaTop" fmla="*/ 360 h 399600"/>
                  <a:gd name="textAreaBottom" fmla="*/ 40032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 name="Google Shape;596;p22"/>
              <p:cNvSpPr/>
              <p:nvPr/>
            </p:nvSpPr>
            <p:spPr>
              <a:xfrm flipV="1">
                <a:off x="1684080" y="4295880"/>
                <a:ext cx="46800" cy="46800"/>
              </a:xfrm>
              <a:custGeom>
                <a:avLst/>
                <a:gdLst>
                  <a:gd name="textAreaLeft" fmla="*/ 0 w 46800"/>
                  <a:gd name="textAreaRight" fmla="*/ 47160 w 46800"/>
                  <a:gd name="textAreaTop" fmla="*/ 360 h 46800"/>
                  <a:gd name="textAreaBottom" fmla="*/ 4752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597;p22"/>
              <p:cNvSpPr/>
              <p:nvPr/>
            </p:nvSpPr>
            <p:spPr>
              <a:xfrm flipV="1">
                <a:off x="1930320" y="4396680"/>
                <a:ext cx="49680" cy="49680"/>
              </a:xfrm>
              <a:custGeom>
                <a:avLst/>
                <a:gdLst>
                  <a:gd name="textAreaLeft" fmla="*/ 0 w 49680"/>
                  <a:gd name="textAreaRight" fmla="*/ 50040 w 49680"/>
                  <a:gd name="textAreaTop" fmla="*/ 360 h 49680"/>
                  <a:gd name="textAreaBottom" fmla="*/ 5040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27" name="Google Shape;598;p22"/>
          <p:cNvGrpSpPr/>
          <p:nvPr/>
        </p:nvGrpSpPr>
        <p:grpSpPr>
          <a:xfrm>
            <a:off x="6185880" y="-182160"/>
            <a:ext cx="3413520" cy="3090960"/>
            <a:chOff x="6185880" y="-182160"/>
            <a:chExt cx="3413520" cy="3090960"/>
          </a:xfrm>
        </p:grpSpPr>
        <p:sp>
          <p:nvSpPr>
            <p:cNvPr id="128" name="Google Shape;599;p22"/>
            <p:cNvSpPr/>
            <p:nvPr/>
          </p:nvSpPr>
          <p:spPr>
            <a:xfrm flipH="1">
              <a:off x="6185520" y="-76320"/>
              <a:ext cx="3077640" cy="2985120"/>
            </a:xfrm>
            <a:prstGeom prst="diagStripe">
              <a:avLst>
                <a:gd name="adj" fmla="val 50000"/>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600;p22"/>
            <p:cNvSpPr/>
            <p:nvPr/>
          </p:nvSpPr>
          <p:spPr>
            <a:xfrm flipH="1">
              <a:off x="7392960" y="-182160"/>
              <a:ext cx="1891800" cy="1502640"/>
            </a:xfrm>
            <a:custGeom>
              <a:avLst/>
              <a:gdLst>
                <a:gd name="textAreaLeft" fmla="*/ -360 w 1891800"/>
                <a:gd name="textAreaRight" fmla="*/ 1891800 w 1891800"/>
                <a:gd name="textAreaTop" fmla="*/ 0 h 1502640"/>
                <a:gd name="textAreaBottom" fmla="*/ 1503000 h 1502640"/>
              </a:gdLst>
              <a:ahLst/>
              <a:cxnLst/>
              <a:rect l="textAreaLeft" t="textAreaTop" r="textAreaRight" b="textAreaBottom"/>
              <a:pathLst>
                <a:path w="1930" h="1536">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0" name="Google Shape;601;p22"/>
            <p:cNvGrpSpPr/>
            <p:nvPr/>
          </p:nvGrpSpPr>
          <p:grpSpPr>
            <a:xfrm>
              <a:off x="6446160" y="99000"/>
              <a:ext cx="3153240" cy="939960"/>
              <a:chOff x="6446160" y="99000"/>
              <a:chExt cx="3153240" cy="939960"/>
            </a:xfrm>
          </p:grpSpPr>
          <p:sp>
            <p:nvSpPr>
              <p:cNvPr id="131" name="Google Shape;602;p22"/>
              <p:cNvSpPr/>
              <p:nvPr/>
            </p:nvSpPr>
            <p:spPr>
              <a:xfrm flipH="1">
                <a:off x="6445800" y="99000"/>
                <a:ext cx="3153240" cy="937080"/>
              </a:xfrm>
              <a:custGeom>
                <a:avLst/>
                <a:gdLst>
                  <a:gd name="textAreaLeft" fmla="*/ -360 w 3153240"/>
                  <a:gd name="textAreaRight" fmla="*/ 3153240 w 3153240"/>
                  <a:gd name="textAreaTop" fmla="*/ 0 h 937080"/>
                  <a:gd name="textAreaBottom" fmla="*/ 937440 h 937080"/>
                </a:gdLst>
                <a:ahLst/>
                <a:cxnLst/>
                <a:rect l="textAreaLeft" t="textAreaTop" r="textAreaRight" b="textAreaBottom"/>
                <a:pathLst>
                  <a:path w="1064" h="315">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603;p22"/>
              <p:cNvSpPr/>
              <p:nvPr/>
            </p:nvSpPr>
            <p:spPr>
              <a:xfrm flipH="1">
                <a:off x="7436160" y="640080"/>
                <a:ext cx="1821600" cy="398880"/>
              </a:xfrm>
              <a:custGeom>
                <a:avLst/>
                <a:gdLst>
                  <a:gd name="textAreaLeft" fmla="*/ 360 w 1821600"/>
                  <a:gd name="textAreaRight" fmla="*/ 1822320 w 1821600"/>
                  <a:gd name="textAreaTop" fmla="*/ 0 h 398880"/>
                  <a:gd name="textAreaBottom" fmla="*/ 399240 h 398880"/>
                </a:gdLst>
                <a:ahLst/>
                <a:cxnLst/>
                <a:rect l="textAreaLeft" t="textAreaTop" r="textAreaRight" b="textAreaBottom"/>
                <a:pathLst>
                  <a:path w="622" h="135">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604;p22"/>
              <p:cNvSpPr/>
              <p:nvPr/>
            </p:nvSpPr>
            <p:spPr>
              <a:xfrm flipH="1">
                <a:off x="7189200" y="536400"/>
                <a:ext cx="2067480" cy="399600"/>
              </a:xfrm>
              <a:custGeom>
                <a:avLst/>
                <a:gdLst>
                  <a:gd name="textAreaLeft" fmla="*/ -360 w 2067480"/>
                  <a:gd name="textAreaRight" fmla="*/ 2067480 w 2067480"/>
                  <a:gd name="textAreaTop" fmla="*/ 0 h 399600"/>
                  <a:gd name="textAreaBottom" fmla="*/ 399960 h 399600"/>
                </a:gdLst>
                <a:ahLst/>
                <a:cxnLst/>
                <a:rect l="textAreaLeft" t="textAreaTop" r="textAreaRight" b="textAreaBottom"/>
                <a:pathLst>
                  <a:path w="706" h="135">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605;p22"/>
              <p:cNvSpPr/>
              <p:nvPr/>
            </p:nvSpPr>
            <p:spPr>
              <a:xfrm flipH="1">
                <a:off x="7412760" y="619560"/>
                <a:ext cx="46800" cy="46800"/>
              </a:xfrm>
              <a:custGeom>
                <a:avLst/>
                <a:gdLst>
                  <a:gd name="textAreaLeft" fmla="*/ 360 w 46800"/>
                  <a:gd name="textAreaRight" fmla="*/ 47520 w 46800"/>
                  <a:gd name="textAreaTop" fmla="*/ 0 h 46800"/>
                  <a:gd name="textAreaBottom" fmla="*/ 47160 h 46800"/>
                </a:gdLst>
                <a:ahLst/>
                <a:cxnLst/>
                <a:rect l="textAreaLeft" t="textAreaTop" r="textAreaRight" b="textAreaBottom"/>
                <a:pathLst>
                  <a:path w="16" h="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606;p22"/>
              <p:cNvSpPr/>
              <p:nvPr/>
            </p:nvSpPr>
            <p:spPr>
              <a:xfrm flipH="1">
                <a:off x="7163640" y="515520"/>
                <a:ext cx="49680" cy="49680"/>
              </a:xfrm>
              <a:custGeom>
                <a:avLst/>
                <a:gdLst>
                  <a:gd name="textAreaLeft" fmla="*/ 360 w 49680"/>
                  <a:gd name="textAreaRight" fmla="*/ 50400 w 49680"/>
                  <a:gd name="textAreaTop" fmla="*/ 0 h 49680"/>
                  <a:gd name="textAreaBottom" fmla="*/ 50040 h 49680"/>
                </a:gdLst>
                <a:ahLst/>
                <a:cxnLst/>
                <a:rect l="textAreaLeft" t="textAreaTop" r="textAreaRight" b="textAreaBottom"/>
                <a:pathLst>
                  <a:path w="17" h="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3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2009880" y="1971600"/>
            <a:ext cx="5124240" cy="1437840"/>
          </a:xfrm>
          <a:prstGeom prst="rect">
            <a:avLst/>
          </a:prstGeom>
          <a:noFill/>
          <a:ln w="0">
            <a:noFill/>
          </a:ln>
        </p:spPr>
        <p:txBody>
          <a:bodyPr lIns="91440" tIns="91440" rIns="91440" bIns="91440" anchor="b">
            <a:noAutofit/>
          </a:bodyPr>
          <a:lstStyle/>
          <a:p>
            <a:pPr indent="0" algn="ctr">
              <a:lnSpc>
                <a:spcPct val="90000"/>
              </a:lnSpc>
              <a:buNone/>
              <a:tabLst>
                <a:tab pos="0" algn="l"/>
              </a:tabLst>
            </a:pPr>
            <a:r>
              <a:rPr lang="en-US" sz="6000" b="1" u="none" strike="noStrike" dirty="0">
                <a:solidFill>
                  <a:schemeClr val="dk1"/>
                </a:solidFill>
                <a:effectLst/>
                <a:uFillTx/>
                <a:latin typeface="Syncopate"/>
              </a:rPr>
              <a:t>FIRE FIGHTING ROBOT</a:t>
            </a:r>
            <a:endParaRPr lang="fr-FR" sz="6000" b="1" u="none" strike="noStrike" dirty="0">
              <a:solidFill>
                <a:schemeClr val="dk1"/>
              </a:solidFill>
              <a:effectLst/>
              <a:uFillTx/>
              <a:latin typeface="Arial"/>
            </a:endParaRPr>
          </a:p>
        </p:txBody>
      </p:sp>
      <p:sp>
        <p:nvSpPr>
          <p:cNvPr id="2" name="TextBox 1">
            <a:extLst>
              <a:ext uri="{FF2B5EF4-FFF2-40B4-BE49-F238E27FC236}">
                <a16:creationId xmlns:a16="http://schemas.microsoft.com/office/drawing/2014/main" id="{E449C279-FDC3-008A-B181-CAE09DDD3420}"/>
              </a:ext>
            </a:extLst>
          </p:cNvPr>
          <p:cNvSpPr txBox="1"/>
          <p:nvPr/>
        </p:nvSpPr>
        <p:spPr>
          <a:xfrm>
            <a:off x="0" y="4118707"/>
            <a:ext cx="5259755" cy="923330"/>
          </a:xfrm>
          <a:prstGeom prst="rect">
            <a:avLst/>
          </a:prstGeom>
          <a:noFill/>
        </p:spPr>
        <p:txBody>
          <a:bodyPr wrap="square" rtlCol="0">
            <a:spAutoFit/>
          </a:bodyPr>
          <a:lstStyle/>
          <a:p>
            <a:r>
              <a:rPr lang="en-US" dirty="0"/>
              <a:t>Presented By:</a:t>
            </a:r>
          </a:p>
          <a:p>
            <a:r>
              <a:rPr lang="en-US" dirty="0"/>
              <a:t>Hazem Medhat, Yassin Mohamed, Eyad Emad, Janna Yasser, Menna </a:t>
            </a:r>
            <a:r>
              <a:rPr lang="en-US" dirty="0" err="1"/>
              <a:t>tullah</a:t>
            </a:r>
            <a:r>
              <a:rPr lang="en-US" dirty="0"/>
              <a:t> Khaled, Jana Hassan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158"/>
          <p:cNvSpPr/>
          <p:nvPr/>
        </p:nvSpPr>
        <p:spPr>
          <a:xfrm>
            <a:off x="218830" y="429565"/>
            <a:ext cx="2282550" cy="75946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dirty="0">
                <a:solidFill>
                  <a:schemeClr val="dk1"/>
                </a:solidFill>
                <a:effectLst/>
                <a:uFillTx/>
                <a:latin typeface="Syncopate"/>
              </a:rPr>
              <a:t>Contents</a:t>
            </a:r>
            <a:endParaRPr lang="en-US" sz="4000" b="1" u="none" strike="noStrike" dirty="0">
              <a:solidFill>
                <a:srgbClr val="FFFFFF"/>
              </a:solidFill>
              <a:effectLst/>
              <a:uFillTx/>
              <a:latin typeface="OpenSymbol"/>
            </a:endParaRPr>
          </a:p>
        </p:txBody>
      </p:sp>
      <p:pic>
        <p:nvPicPr>
          <p:cNvPr id="160" name="image6a0108617c79f" descr="image6a0108617c7a4"/>
          <p:cNvPicPr/>
          <p:nvPr/>
        </p:nvPicPr>
        <p:blipFill>
          <a:blip r:embed="rId2"/>
          <a:stretch/>
        </p:blipFill>
        <p:spPr>
          <a:xfrm>
            <a:off x="4572000" y="0"/>
            <a:ext cx="4571640" cy="5143320"/>
          </a:xfrm>
          <a:prstGeom prst="rect">
            <a:avLst/>
          </a:prstGeom>
          <a:noFill/>
          <a:ln w="0">
            <a:noFill/>
          </a:ln>
        </p:spPr>
      </p:pic>
      <p:sp>
        <p:nvSpPr>
          <p:cNvPr id="3" name="TextBox 2">
            <a:extLst>
              <a:ext uri="{FF2B5EF4-FFF2-40B4-BE49-F238E27FC236}">
                <a16:creationId xmlns:a16="http://schemas.microsoft.com/office/drawing/2014/main" id="{A7B2B5A4-B8A1-7612-153B-69BEF0508120}"/>
              </a:ext>
            </a:extLst>
          </p:cNvPr>
          <p:cNvSpPr txBox="1"/>
          <p:nvPr/>
        </p:nvSpPr>
        <p:spPr>
          <a:xfrm>
            <a:off x="218830" y="1273034"/>
            <a:ext cx="4657969" cy="3139321"/>
          </a:xfrm>
          <a:prstGeom prst="rect">
            <a:avLst/>
          </a:prstGeom>
          <a:noFill/>
        </p:spPr>
        <p:txBody>
          <a:bodyPr wrap="square" rtlCol="0">
            <a:spAutoFit/>
          </a:bodyPr>
          <a:lstStyle/>
          <a:p>
            <a:pPr marL="342900" indent="-342900">
              <a:buClr>
                <a:schemeClr val="accent3"/>
              </a:buClr>
              <a:buSzPct val="110000"/>
              <a:buFont typeface="+mj-lt"/>
              <a:buAutoNum type="arabicPeriod"/>
            </a:pPr>
            <a:r>
              <a:rPr lang="en-US" sz="2000" dirty="0"/>
              <a:t>Fire Fighting Robot</a:t>
            </a:r>
          </a:p>
          <a:p>
            <a:pPr marL="342900" indent="-342900">
              <a:buClr>
                <a:schemeClr val="accent3"/>
              </a:buClr>
              <a:buSzPct val="110000"/>
              <a:buFont typeface="+mj-lt"/>
              <a:buAutoNum type="arabicPeriod"/>
            </a:pPr>
            <a:r>
              <a:rPr lang="en-US" sz="2000" dirty="0"/>
              <a:t>K-Map</a:t>
            </a:r>
          </a:p>
          <a:p>
            <a:pPr marL="342900" indent="-342900">
              <a:buClr>
                <a:schemeClr val="accent3"/>
              </a:buClr>
              <a:buSzPct val="110000"/>
              <a:buFont typeface="+mj-lt"/>
              <a:buAutoNum type="arabicPeriod"/>
            </a:pPr>
            <a:r>
              <a:rPr lang="en-US" sz="2000" dirty="0"/>
              <a:t>Boolean Expression</a:t>
            </a:r>
          </a:p>
          <a:p>
            <a:pPr marL="342900" indent="-342900">
              <a:buClr>
                <a:schemeClr val="accent3"/>
              </a:buClr>
              <a:buSzPct val="110000"/>
              <a:buFont typeface="+mj-lt"/>
              <a:buAutoNum type="arabicPeriod"/>
            </a:pPr>
            <a:r>
              <a:rPr lang="en-US" sz="2000" dirty="0"/>
              <a:t>Circuit Design</a:t>
            </a:r>
          </a:p>
          <a:p>
            <a:pPr marL="342900" indent="-342900">
              <a:buClr>
                <a:schemeClr val="accent3"/>
              </a:buClr>
              <a:buSzPct val="110000"/>
              <a:buFont typeface="+mj-lt"/>
              <a:buAutoNum type="arabicPeriod"/>
            </a:pPr>
            <a:r>
              <a:rPr lang="en-US" sz="2000" dirty="0"/>
              <a:t>The Truth Table</a:t>
            </a:r>
          </a:p>
          <a:p>
            <a:pPr marL="342900" indent="-342900">
              <a:buClr>
                <a:schemeClr val="accent3"/>
              </a:buClr>
              <a:buSzPct val="110000"/>
              <a:buFont typeface="+mj-lt"/>
              <a:buAutoNum type="arabicPeriod"/>
            </a:pPr>
            <a:r>
              <a:rPr lang="en-US" sz="2000" dirty="0"/>
              <a:t>Truth Table Of The Water Pump</a:t>
            </a:r>
          </a:p>
          <a:p>
            <a:pPr marL="342900" indent="-342900">
              <a:buClr>
                <a:schemeClr val="accent3"/>
              </a:buClr>
              <a:buSzPct val="110000"/>
              <a:buFont typeface="+mj-lt"/>
              <a:buAutoNum type="arabicPeriod"/>
            </a:pPr>
            <a:r>
              <a:rPr lang="en-US" sz="2000" dirty="0"/>
              <a:t>Code Of The Robot</a:t>
            </a:r>
          </a:p>
          <a:p>
            <a:pPr marL="342900" indent="-342900">
              <a:buClr>
                <a:schemeClr val="accent3"/>
              </a:buClr>
              <a:buSzPct val="110000"/>
              <a:buFont typeface="+mj-lt"/>
              <a:buAutoNum type="arabicPeriod"/>
            </a:pPr>
            <a:r>
              <a:rPr lang="en-US" sz="2000" dirty="0"/>
              <a:t>Its Components </a:t>
            </a:r>
          </a:p>
          <a:p>
            <a:pPr marL="342900" indent="-342900">
              <a:buClr>
                <a:schemeClr val="accent3"/>
              </a:buClr>
              <a:buSzPct val="110000"/>
              <a:buFont typeface="+mj-lt"/>
              <a:buAutoNum type="arabicPeriod"/>
            </a:pPr>
            <a:r>
              <a:rPr lang="en-US" sz="2000" dirty="0"/>
              <a:t>The Simulator (Circuit Design)</a:t>
            </a:r>
          </a:p>
          <a:p>
            <a:pPr marL="342900" indent="-342900">
              <a:buClr>
                <a:schemeClr val="accent3"/>
              </a:buClr>
              <a:buSzPct val="110000"/>
              <a:buFont typeface="+mj-lt"/>
              <a:buAutoNum type="arabicPeriod"/>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 name="Google Shape;1119;p53"/>
          <p:cNvPicPr/>
          <p:nvPr/>
        </p:nvPicPr>
        <p:blipFill>
          <a:blip r:embed="rId2"/>
          <a:stretch/>
        </p:blipFill>
        <p:spPr>
          <a:xfrm>
            <a:off x="4847400" y="981360"/>
            <a:ext cx="3274200" cy="3180600"/>
          </a:xfrm>
          <a:prstGeom prst="rect">
            <a:avLst/>
          </a:prstGeom>
          <a:noFill/>
          <a:ln w="9525">
            <a:solidFill>
              <a:srgbClr val="FFFFFF"/>
            </a:solidFill>
            <a:round/>
          </a:ln>
        </p:spPr>
      </p:pic>
      <p:sp>
        <p:nvSpPr>
          <p:cNvPr id="156" name="PlaceHolder 1"/>
          <p:cNvSpPr>
            <a:spLocks noGrp="1"/>
          </p:cNvSpPr>
          <p:nvPr>
            <p:ph type="title"/>
          </p:nvPr>
        </p:nvSpPr>
        <p:spPr>
          <a:xfrm>
            <a:off x="-200040" y="475504"/>
            <a:ext cx="3813908" cy="638717"/>
          </a:xfrm>
          <a:prstGeom prst="rect">
            <a:avLst/>
          </a:prstGeom>
          <a:noFill/>
          <a:ln w="0">
            <a:noFill/>
          </a:ln>
        </p:spPr>
        <p:txBody>
          <a:bodyPr lIns="91440" tIns="91440" rIns="91440" bIns="91440" anchor="b">
            <a:normAutofit fontScale="90000"/>
          </a:bodyPr>
          <a:lstStyle/>
          <a:p>
            <a:pPr indent="0" algn="r">
              <a:lnSpc>
                <a:spcPct val="100000"/>
              </a:lnSpc>
              <a:buNone/>
              <a:tabLst>
                <a:tab pos="0" algn="l"/>
              </a:tabLst>
            </a:pPr>
            <a:r>
              <a:rPr lang="en-US" sz="2800" b="1" dirty="0">
                <a:solidFill>
                  <a:schemeClr val="dk1"/>
                </a:solidFill>
                <a:latin typeface="Syncopate"/>
              </a:rPr>
              <a:t>1. FIRE FIGHTING ROBOT</a:t>
            </a:r>
            <a:endParaRPr lang="fr-FR" sz="2800" b="1" u="none" strike="noStrike" dirty="0">
              <a:solidFill>
                <a:schemeClr val="dk1"/>
              </a:solidFill>
              <a:effectLst/>
              <a:uFillTx/>
              <a:latin typeface="Arial"/>
            </a:endParaRPr>
          </a:p>
        </p:txBody>
      </p:sp>
      <p:sp>
        <p:nvSpPr>
          <p:cNvPr id="157" name="PlaceHolder 2"/>
          <p:cNvSpPr>
            <a:spLocks noGrp="1"/>
          </p:cNvSpPr>
          <p:nvPr>
            <p:ph type="subTitle"/>
          </p:nvPr>
        </p:nvSpPr>
        <p:spPr>
          <a:xfrm>
            <a:off x="-121887" y="1404984"/>
            <a:ext cx="5147178" cy="2862216"/>
          </a:xfrm>
          <a:prstGeom prst="rect">
            <a:avLst/>
          </a:prstGeom>
          <a:noFill/>
          <a:ln w="0">
            <a:noFill/>
          </a:ln>
        </p:spPr>
        <p:txBody>
          <a:bodyPr lIns="91440" tIns="91440" rIns="91440" bIns="91440" anchor="t">
            <a:normAutofit fontScale="25000" lnSpcReduction="20000"/>
          </a:bodyPr>
          <a:lstStyle/>
          <a:p>
            <a:pPr indent="0">
              <a:lnSpc>
                <a:spcPct val="150000"/>
              </a:lnSpc>
              <a:buNone/>
              <a:tabLst>
                <a:tab pos="0" algn="l"/>
              </a:tabLst>
            </a:pPr>
            <a:r>
              <a:rPr lang="en-US" sz="8000" b="0" u="none" strike="noStrike" dirty="0">
                <a:solidFill>
                  <a:srgbClr val="FFFFFF"/>
                </a:solidFill>
                <a:effectLst/>
                <a:uFillTx/>
              </a:rPr>
              <a:t>A fire-fighting robot uses flame sensors and digital logic components to detect fire, with an Arduino Uno serving as the main controller to process signals and control the robot’s response.</a:t>
            </a:r>
          </a:p>
          <a:p>
            <a:pPr indent="0">
              <a:lnSpc>
                <a:spcPct val="150000"/>
              </a:lnSpc>
              <a:buNone/>
              <a:tabLst>
                <a:tab pos="0" algn="l"/>
              </a:tabLst>
            </a:pPr>
            <a:endParaRPr lang="en-US" sz="1400" b="0" u="none" strike="noStrike" dirty="0">
              <a:solidFill>
                <a:srgbClr val="FFFFFF"/>
              </a:solidFill>
              <a:effectLst/>
              <a:uFillTx/>
              <a:latin typeface="OpenSymbol"/>
            </a:endParaRPr>
          </a:p>
        </p:txBody>
      </p:sp>
      <p:pic>
        <p:nvPicPr>
          <p:cNvPr id="3" name="Picture 2">
            <a:extLst>
              <a:ext uri="{FF2B5EF4-FFF2-40B4-BE49-F238E27FC236}">
                <a16:creationId xmlns:a16="http://schemas.microsoft.com/office/drawing/2014/main" id="{9818A8C8-53D4-A340-88D7-5971EC40D2E6}"/>
              </a:ext>
            </a:extLst>
          </p:cNvPr>
          <p:cNvPicPr>
            <a:picLocks noChangeAspect="1"/>
          </p:cNvPicPr>
          <p:nvPr/>
        </p:nvPicPr>
        <p:blipFill>
          <a:blip r:embed="rId3"/>
          <a:stretch>
            <a:fillRect/>
          </a:stretch>
        </p:blipFill>
        <p:spPr>
          <a:xfrm>
            <a:off x="4777062" y="876300"/>
            <a:ext cx="4081035" cy="35515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478B3-9BDB-D4CD-730D-91D101C0BA3B}"/>
            </a:ext>
          </a:extLst>
        </p:cNvPr>
        <p:cNvGrpSpPr/>
        <p:nvPr/>
      </p:nvGrpSpPr>
      <p:grpSpPr>
        <a:xfrm>
          <a:off x="0" y="0"/>
          <a:ext cx="0" cy="0"/>
          <a:chOff x="0" y="0"/>
          <a:chExt cx="0" cy="0"/>
        </a:xfrm>
      </p:grpSpPr>
      <p:sp>
        <p:nvSpPr>
          <p:cNvPr id="159" name="Rectangle 158">
            <a:extLst>
              <a:ext uri="{FF2B5EF4-FFF2-40B4-BE49-F238E27FC236}">
                <a16:creationId xmlns:a16="http://schemas.microsoft.com/office/drawing/2014/main" id="{EF91836C-EE70-9840-D342-BC6A1A92EAFD}"/>
              </a:ext>
            </a:extLst>
          </p:cNvPr>
          <p:cNvSpPr/>
          <p:nvPr/>
        </p:nvSpPr>
        <p:spPr>
          <a:xfrm>
            <a:off x="671664" y="662932"/>
            <a:ext cx="2079351" cy="75165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b="1" dirty="0">
                <a:solidFill>
                  <a:schemeClr val="dk1"/>
                </a:solidFill>
                <a:latin typeface="Syncopate"/>
              </a:rPr>
              <a:t>2. K-MAP</a:t>
            </a:r>
            <a:endParaRPr lang="en-US" sz="3600" b="1" u="none" strike="noStrike" dirty="0">
              <a:solidFill>
                <a:srgbClr val="FFFFFF"/>
              </a:solidFill>
              <a:effectLst/>
              <a:uFillTx/>
              <a:latin typeface="OpenSymbol"/>
            </a:endParaRPr>
          </a:p>
        </p:txBody>
      </p:sp>
      <p:sp>
        <p:nvSpPr>
          <p:cNvPr id="3" name="TextBox 2">
            <a:extLst>
              <a:ext uri="{FF2B5EF4-FFF2-40B4-BE49-F238E27FC236}">
                <a16:creationId xmlns:a16="http://schemas.microsoft.com/office/drawing/2014/main" id="{7187CDAB-662D-B638-6D00-75E39231CE1C}"/>
              </a:ext>
            </a:extLst>
          </p:cNvPr>
          <p:cNvSpPr txBox="1"/>
          <p:nvPr/>
        </p:nvSpPr>
        <p:spPr>
          <a:xfrm>
            <a:off x="496278" y="2507539"/>
            <a:ext cx="4005383" cy="400110"/>
          </a:xfrm>
          <a:prstGeom prst="rect">
            <a:avLst/>
          </a:prstGeom>
          <a:noFill/>
        </p:spPr>
        <p:txBody>
          <a:bodyPr wrap="square">
            <a:spAutoFit/>
          </a:bodyPr>
          <a:lstStyle/>
          <a:p>
            <a:r>
              <a:rPr lang="pt-BR" sz="2000" dirty="0"/>
              <a:t>• F( R, F, L)= ⅀m(2,3,4,5,6,7)</a:t>
            </a:r>
            <a:endParaRPr lang="en-US" sz="2000" dirty="0"/>
          </a:p>
        </p:txBody>
      </p:sp>
      <p:pic>
        <p:nvPicPr>
          <p:cNvPr id="5" name="Picture 4">
            <a:extLst>
              <a:ext uri="{FF2B5EF4-FFF2-40B4-BE49-F238E27FC236}">
                <a16:creationId xmlns:a16="http://schemas.microsoft.com/office/drawing/2014/main" id="{06F1AE0D-1CE3-BFBE-3419-E314D6B04A14}"/>
              </a:ext>
            </a:extLst>
          </p:cNvPr>
          <p:cNvPicPr>
            <a:picLocks noChangeAspect="1"/>
          </p:cNvPicPr>
          <p:nvPr/>
        </p:nvPicPr>
        <p:blipFill>
          <a:blip r:embed="rId2"/>
          <a:srcRect l="11871" t="2028" r="17391" b="17849"/>
          <a:stretch>
            <a:fillRect/>
          </a:stretch>
        </p:blipFill>
        <p:spPr>
          <a:xfrm>
            <a:off x="4947137" y="1737918"/>
            <a:ext cx="3477847" cy="1908574"/>
          </a:xfrm>
          <a:prstGeom prst="rect">
            <a:avLst/>
          </a:prstGeom>
        </p:spPr>
      </p:pic>
    </p:spTree>
    <p:extLst>
      <p:ext uri="{BB962C8B-B14F-4D97-AF65-F5344CB8AC3E}">
        <p14:creationId xmlns:p14="http://schemas.microsoft.com/office/powerpoint/2010/main" val="63427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1F6D4-6D9B-075E-4C93-F786D8818A64}"/>
            </a:ext>
          </a:extLst>
        </p:cNvPr>
        <p:cNvGrpSpPr/>
        <p:nvPr/>
      </p:nvGrpSpPr>
      <p:grpSpPr>
        <a:xfrm>
          <a:off x="0" y="0"/>
          <a:ext cx="0" cy="0"/>
          <a:chOff x="0" y="0"/>
          <a:chExt cx="0" cy="0"/>
        </a:xfrm>
      </p:grpSpPr>
      <p:sp>
        <p:nvSpPr>
          <p:cNvPr id="159" name="Rectangle 158">
            <a:extLst>
              <a:ext uri="{FF2B5EF4-FFF2-40B4-BE49-F238E27FC236}">
                <a16:creationId xmlns:a16="http://schemas.microsoft.com/office/drawing/2014/main" id="{6F59D50A-8C07-B100-A0F1-746E6BA4DBA6}"/>
              </a:ext>
            </a:extLst>
          </p:cNvPr>
          <p:cNvSpPr/>
          <p:nvPr/>
        </p:nvSpPr>
        <p:spPr>
          <a:xfrm>
            <a:off x="671664" y="662932"/>
            <a:ext cx="2079351" cy="75165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b="1" dirty="0">
                <a:solidFill>
                  <a:schemeClr val="dk1"/>
                </a:solidFill>
                <a:latin typeface="Syncopate"/>
              </a:rPr>
              <a:t>2. K-MAP</a:t>
            </a:r>
            <a:endParaRPr lang="en-US" sz="3600" b="1" u="none" strike="noStrike" dirty="0">
              <a:solidFill>
                <a:srgbClr val="FFFFFF"/>
              </a:solidFill>
              <a:effectLst/>
              <a:uFillTx/>
              <a:latin typeface="OpenSymbol"/>
            </a:endParaRPr>
          </a:p>
        </p:txBody>
      </p:sp>
      <p:sp>
        <p:nvSpPr>
          <p:cNvPr id="4" name="TextBox 3">
            <a:extLst>
              <a:ext uri="{FF2B5EF4-FFF2-40B4-BE49-F238E27FC236}">
                <a16:creationId xmlns:a16="http://schemas.microsoft.com/office/drawing/2014/main" id="{2F7FAF9B-CC75-A8B9-DF0B-643F80F8D6AE}"/>
              </a:ext>
            </a:extLst>
          </p:cNvPr>
          <p:cNvSpPr txBox="1"/>
          <p:nvPr/>
        </p:nvSpPr>
        <p:spPr>
          <a:xfrm>
            <a:off x="578339" y="2371695"/>
            <a:ext cx="3165230" cy="400110"/>
          </a:xfrm>
          <a:prstGeom prst="rect">
            <a:avLst/>
          </a:prstGeom>
          <a:noFill/>
        </p:spPr>
        <p:txBody>
          <a:bodyPr wrap="square">
            <a:spAutoFit/>
          </a:bodyPr>
          <a:lstStyle/>
          <a:p>
            <a:r>
              <a:rPr lang="pt-BR" sz="2000" dirty="0"/>
              <a:t>• F( R, F, L)= ⅀m(1,2,3)</a:t>
            </a:r>
            <a:endParaRPr lang="en-US" sz="2000" dirty="0"/>
          </a:p>
        </p:txBody>
      </p:sp>
      <p:pic>
        <p:nvPicPr>
          <p:cNvPr id="7" name="Picture 6">
            <a:extLst>
              <a:ext uri="{FF2B5EF4-FFF2-40B4-BE49-F238E27FC236}">
                <a16:creationId xmlns:a16="http://schemas.microsoft.com/office/drawing/2014/main" id="{034BEB58-9800-F6C8-98CC-29DAF1553F72}"/>
              </a:ext>
            </a:extLst>
          </p:cNvPr>
          <p:cNvPicPr>
            <a:picLocks noChangeAspect="1"/>
          </p:cNvPicPr>
          <p:nvPr/>
        </p:nvPicPr>
        <p:blipFill>
          <a:blip r:embed="rId2"/>
          <a:srcRect l="10673" t="4042" r="17654" b="16550"/>
          <a:stretch>
            <a:fillRect/>
          </a:stretch>
        </p:blipFill>
        <p:spPr>
          <a:xfrm>
            <a:off x="4936030" y="1742832"/>
            <a:ext cx="3629631" cy="1922584"/>
          </a:xfrm>
          <a:prstGeom prst="rect">
            <a:avLst/>
          </a:prstGeom>
        </p:spPr>
      </p:pic>
    </p:spTree>
    <p:extLst>
      <p:ext uri="{BB962C8B-B14F-4D97-AF65-F5344CB8AC3E}">
        <p14:creationId xmlns:p14="http://schemas.microsoft.com/office/powerpoint/2010/main" val="3998440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B982A-8AFD-8B82-2F82-EB036119191F}"/>
            </a:ext>
          </a:extLst>
        </p:cNvPr>
        <p:cNvGrpSpPr/>
        <p:nvPr/>
      </p:nvGrpSpPr>
      <p:grpSpPr>
        <a:xfrm>
          <a:off x="0" y="0"/>
          <a:ext cx="0" cy="0"/>
          <a:chOff x="0" y="0"/>
          <a:chExt cx="0" cy="0"/>
        </a:xfrm>
      </p:grpSpPr>
      <p:sp>
        <p:nvSpPr>
          <p:cNvPr id="159" name="Rectangle 158">
            <a:extLst>
              <a:ext uri="{FF2B5EF4-FFF2-40B4-BE49-F238E27FC236}">
                <a16:creationId xmlns:a16="http://schemas.microsoft.com/office/drawing/2014/main" id="{702DB05B-EF27-9811-17DF-781C585D0649}"/>
              </a:ext>
            </a:extLst>
          </p:cNvPr>
          <p:cNvSpPr/>
          <p:nvPr/>
        </p:nvSpPr>
        <p:spPr>
          <a:xfrm>
            <a:off x="671664" y="662932"/>
            <a:ext cx="2079351" cy="75165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600" b="1" dirty="0">
                <a:solidFill>
                  <a:schemeClr val="dk1"/>
                </a:solidFill>
                <a:latin typeface="Syncopate"/>
              </a:rPr>
              <a:t>2. K-MAP</a:t>
            </a:r>
            <a:endParaRPr lang="en-US" sz="3600" b="1" u="none" strike="noStrike" dirty="0">
              <a:solidFill>
                <a:srgbClr val="FFFFFF"/>
              </a:solidFill>
              <a:effectLst/>
              <a:uFillTx/>
              <a:latin typeface="OpenSymbol"/>
            </a:endParaRPr>
          </a:p>
        </p:txBody>
      </p:sp>
      <p:pic>
        <p:nvPicPr>
          <p:cNvPr id="4" name="Picture 3">
            <a:extLst>
              <a:ext uri="{FF2B5EF4-FFF2-40B4-BE49-F238E27FC236}">
                <a16:creationId xmlns:a16="http://schemas.microsoft.com/office/drawing/2014/main" id="{EBA0A0B5-8FAD-35CA-D428-AD23AE6D5A1A}"/>
              </a:ext>
            </a:extLst>
          </p:cNvPr>
          <p:cNvPicPr>
            <a:picLocks noChangeAspect="1"/>
          </p:cNvPicPr>
          <p:nvPr/>
        </p:nvPicPr>
        <p:blipFill>
          <a:blip r:embed="rId2"/>
          <a:srcRect l="11355" t="3600" r="13547" b="10057"/>
          <a:stretch>
            <a:fillRect/>
          </a:stretch>
        </p:blipFill>
        <p:spPr>
          <a:xfrm>
            <a:off x="5083907" y="1792321"/>
            <a:ext cx="3575444" cy="1982510"/>
          </a:xfrm>
          <a:prstGeom prst="rect">
            <a:avLst/>
          </a:prstGeom>
        </p:spPr>
      </p:pic>
      <p:sp>
        <p:nvSpPr>
          <p:cNvPr id="7" name="TextBox 6">
            <a:extLst>
              <a:ext uri="{FF2B5EF4-FFF2-40B4-BE49-F238E27FC236}">
                <a16:creationId xmlns:a16="http://schemas.microsoft.com/office/drawing/2014/main" id="{6CE32C8A-C56C-8A27-A4AE-617509782859}"/>
              </a:ext>
            </a:extLst>
          </p:cNvPr>
          <p:cNvSpPr txBox="1"/>
          <p:nvPr/>
        </p:nvSpPr>
        <p:spPr>
          <a:xfrm>
            <a:off x="418123" y="2487128"/>
            <a:ext cx="4665784" cy="400110"/>
          </a:xfrm>
          <a:prstGeom prst="rect">
            <a:avLst/>
          </a:prstGeom>
          <a:noFill/>
        </p:spPr>
        <p:txBody>
          <a:bodyPr wrap="square">
            <a:spAutoFit/>
          </a:bodyPr>
          <a:lstStyle/>
          <a:p>
            <a:r>
              <a:rPr lang="pt-BR" dirty="0"/>
              <a:t> </a:t>
            </a:r>
            <a:r>
              <a:rPr lang="pt-BR" sz="2000" dirty="0"/>
              <a:t>F( R, F, L)= ⅀m(1,2,3,4,5,6,7)</a:t>
            </a:r>
            <a:endParaRPr lang="en-US" sz="2000" dirty="0"/>
          </a:p>
        </p:txBody>
      </p:sp>
    </p:spTree>
    <p:extLst>
      <p:ext uri="{BB962C8B-B14F-4D97-AF65-F5344CB8AC3E}">
        <p14:creationId xmlns:p14="http://schemas.microsoft.com/office/powerpoint/2010/main" val="1074382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8A8F0E-8AE0-EB9D-ADA4-50E40825444A}"/>
              </a:ext>
            </a:extLst>
          </p:cNvPr>
          <p:cNvSpPr txBox="1"/>
          <p:nvPr/>
        </p:nvSpPr>
        <p:spPr>
          <a:xfrm>
            <a:off x="308708" y="849115"/>
            <a:ext cx="4176190" cy="523220"/>
          </a:xfrm>
          <a:prstGeom prst="rect">
            <a:avLst/>
          </a:prstGeom>
          <a:noFill/>
        </p:spPr>
        <p:txBody>
          <a:bodyPr wrap="square">
            <a:spAutoFit/>
          </a:bodyPr>
          <a:lstStyle/>
          <a:p>
            <a:r>
              <a:rPr lang="en-US" sz="2800" b="1" dirty="0"/>
              <a:t>3. Boolean Expression</a:t>
            </a:r>
          </a:p>
        </p:txBody>
      </p:sp>
      <p:sp>
        <p:nvSpPr>
          <p:cNvPr id="5" name="TextBox 4">
            <a:extLst>
              <a:ext uri="{FF2B5EF4-FFF2-40B4-BE49-F238E27FC236}">
                <a16:creationId xmlns:a16="http://schemas.microsoft.com/office/drawing/2014/main" id="{98F8BDBE-23D4-1DBC-0C30-7435A56A2C91}"/>
              </a:ext>
            </a:extLst>
          </p:cNvPr>
          <p:cNvSpPr txBox="1"/>
          <p:nvPr/>
        </p:nvSpPr>
        <p:spPr>
          <a:xfrm>
            <a:off x="308708" y="1756052"/>
            <a:ext cx="4346485" cy="1631216"/>
          </a:xfrm>
          <a:prstGeom prst="rect">
            <a:avLst/>
          </a:prstGeom>
          <a:noFill/>
        </p:spPr>
        <p:txBody>
          <a:bodyPr wrap="square">
            <a:spAutoFit/>
          </a:bodyPr>
          <a:lstStyle/>
          <a:p>
            <a:r>
              <a:rPr lang="en-US" sz="2000" dirty="0"/>
              <a:t>The system follows a priority-based logic where the right sensor dominates over front and left sensors, which is reflected in the Boolean expressions.</a:t>
            </a:r>
          </a:p>
        </p:txBody>
      </p:sp>
      <p:pic>
        <p:nvPicPr>
          <p:cNvPr id="9" name="Picture 8">
            <a:extLst>
              <a:ext uri="{FF2B5EF4-FFF2-40B4-BE49-F238E27FC236}">
                <a16:creationId xmlns:a16="http://schemas.microsoft.com/office/drawing/2014/main" id="{0D300B5F-1FA5-9970-29C1-5FB526B82C84}"/>
              </a:ext>
            </a:extLst>
          </p:cNvPr>
          <p:cNvPicPr>
            <a:picLocks noChangeAspect="1"/>
          </p:cNvPicPr>
          <p:nvPr/>
        </p:nvPicPr>
        <p:blipFill>
          <a:blip r:embed="rId2"/>
          <a:stretch>
            <a:fillRect/>
          </a:stretch>
        </p:blipFill>
        <p:spPr>
          <a:xfrm>
            <a:off x="4948477" y="1756052"/>
            <a:ext cx="3886815" cy="17350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D80AF5-3CE2-CE8E-A8D9-17C41D0B9A65}"/>
              </a:ext>
            </a:extLst>
          </p:cNvPr>
          <p:cNvSpPr txBox="1"/>
          <p:nvPr/>
        </p:nvSpPr>
        <p:spPr>
          <a:xfrm>
            <a:off x="152400" y="814442"/>
            <a:ext cx="4665784" cy="4247317"/>
          </a:xfrm>
          <a:prstGeom prst="rect">
            <a:avLst/>
          </a:prstGeom>
          <a:noFill/>
        </p:spPr>
        <p:txBody>
          <a:bodyPr wrap="square">
            <a:spAutoFit/>
          </a:bodyPr>
          <a:lstStyle/>
          <a:p>
            <a:r>
              <a:rPr lang="en-US" dirty="0"/>
              <a:t>The circuit uses basic digital logic gates: 1.NOT</a:t>
            </a:r>
          </a:p>
          <a:p>
            <a:r>
              <a:rPr lang="en-US" dirty="0"/>
              <a:t>2.OR </a:t>
            </a:r>
          </a:p>
          <a:p>
            <a:r>
              <a:rPr lang="en-US" dirty="0"/>
              <a:t>3.AND</a:t>
            </a:r>
          </a:p>
          <a:p>
            <a:r>
              <a:rPr lang="en-US" dirty="0"/>
              <a:t>to process signals from three fire sensors: 1.Right (R)</a:t>
            </a:r>
          </a:p>
          <a:p>
            <a:r>
              <a:rPr lang="en-US" dirty="0"/>
              <a:t>2.Front (F)</a:t>
            </a:r>
          </a:p>
          <a:p>
            <a:r>
              <a:rPr lang="en-US" dirty="0"/>
              <a:t>3.Left (L).</a:t>
            </a:r>
          </a:p>
          <a:p>
            <a:r>
              <a:rPr lang="en-US" dirty="0"/>
              <a:t>Using the Boolean expressions </a:t>
            </a:r>
            <a:r>
              <a:rPr lang="en-US" b="1" dirty="0"/>
              <a:t>ML = R + F </a:t>
            </a:r>
            <a:r>
              <a:rPr lang="en-US" dirty="0"/>
              <a:t>and </a:t>
            </a:r>
            <a:r>
              <a:rPr lang="en-US" b="1" dirty="0"/>
              <a:t>MR = R'(F + L)</a:t>
            </a:r>
          </a:p>
          <a:p>
            <a:r>
              <a:rPr lang="en-US" dirty="0"/>
              <a:t>it controls the robot’s motors to move toward the fire source. The design gives priority to the right sensor, helping the robot turn or move correctly depending on where the fire is detected.</a:t>
            </a:r>
          </a:p>
        </p:txBody>
      </p:sp>
      <p:sp>
        <p:nvSpPr>
          <p:cNvPr id="5" name="TextBox 4">
            <a:extLst>
              <a:ext uri="{FF2B5EF4-FFF2-40B4-BE49-F238E27FC236}">
                <a16:creationId xmlns:a16="http://schemas.microsoft.com/office/drawing/2014/main" id="{B223DB2D-A22E-6DBC-64D9-D52280C5B4CE}"/>
              </a:ext>
            </a:extLst>
          </p:cNvPr>
          <p:cNvSpPr txBox="1"/>
          <p:nvPr/>
        </p:nvSpPr>
        <p:spPr>
          <a:xfrm>
            <a:off x="222739" y="329478"/>
            <a:ext cx="4665784" cy="523220"/>
          </a:xfrm>
          <a:prstGeom prst="rect">
            <a:avLst/>
          </a:prstGeom>
          <a:noFill/>
        </p:spPr>
        <p:txBody>
          <a:bodyPr wrap="square">
            <a:spAutoFit/>
          </a:bodyPr>
          <a:lstStyle/>
          <a:p>
            <a:r>
              <a:rPr lang="en-US" sz="2800" b="1" dirty="0"/>
              <a:t>4. Circuit Design</a:t>
            </a:r>
          </a:p>
        </p:txBody>
      </p:sp>
      <p:pic>
        <p:nvPicPr>
          <p:cNvPr id="7" name="Picture 6">
            <a:extLst>
              <a:ext uri="{FF2B5EF4-FFF2-40B4-BE49-F238E27FC236}">
                <a16:creationId xmlns:a16="http://schemas.microsoft.com/office/drawing/2014/main" id="{2D77C211-9DD3-0D97-1463-072F3F09401A}"/>
              </a:ext>
            </a:extLst>
          </p:cNvPr>
          <p:cNvPicPr>
            <a:picLocks noChangeAspect="1"/>
          </p:cNvPicPr>
          <p:nvPr/>
        </p:nvPicPr>
        <p:blipFill>
          <a:blip r:embed="rId2"/>
          <a:stretch>
            <a:fillRect/>
          </a:stretch>
        </p:blipFill>
        <p:spPr>
          <a:xfrm>
            <a:off x="4712677" y="390770"/>
            <a:ext cx="4341446" cy="45291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689BAA-209D-CB04-2DBF-85DDFBAE778E}"/>
              </a:ext>
            </a:extLst>
          </p:cNvPr>
          <p:cNvSpPr txBox="1"/>
          <p:nvPr/>
        </p:nvSpPr>
        <p:spPr>
          <a:xfrm>
            <a:off x="285261" y="300027"/>
            <a:ext cx="3528646" cy="523220"/>
          </a:xfrm>
          <a:prstGeom prst="rect">
            <a:avLst/>
          </a:prstGeom>
          <a:noFill/>
        </p:spPr>
        <p:txBody>
          <a:bodyPr wrap="square">
            <a:spAutoFit/>
          </a:bodyPr>
          <a:lstStyle/>
          <a:p>
            <a:r>
              <a:rPr lang="en-US" sz="2800" b="1" dirty="0"/>
              <a:t>5. The Truth Table </a:t>
            </a:r>
          </a:p>
        </p:txBody>
      </p:sp>
      <p:sp>
        <p:nvSpPr>
          <p:cNvPr id="5" name="TextBox 4">
            <a:extLst>
              <a:ext uri="{FF2B5EF4-FFF2-40B4-BE49-F238E27FC236}">
                <a16:creationId xmlns:a16="http://schemas.microsoft.com/office/drawing/2014/main" id="{B032B165-F369-C4A6-AD38-6BF27F873DFF}"/>
              </a:ext>
            </a:extLst>
          </p:cNvPr>
          <p:cNvSpPr txBox="1"/>
          <p:nvPr/>
        </p:nvSpPr>
        <p:spPr>
          <a:xfrm>
            <a:off x="199291" y="859641"/>
            <a:ext cx="5404339" cy="369332"/>
          </a:xfrm>
          <a:prstGeom prst="rect">
            <a:avLst/>
          </a:prstGeom>
          <a:noFill/>
        </p:spPr>
        <p:txBody>
          <a:bodyPr wrap="square">
            <a:spAutoFit/>
          </a:bodyPr>
          <a:lstStyle/>
          <a:p>
            <a:r>
              <a:rPr lang="en-US" dirty="0"/>
              <a:t>• R, F and L are the inputs ML and MR the outputs.</a:t>
            </a:r>
          </a:p>
        </p:txBody>
      </p:sp>
      <p:sp>
        <p:nvSpPr>
          <p:cNvPr id="7" name="TextBox 6">
            <a:extLst>
              <a:ext uri="{FF2B5EF4-FFF2-40B4-BE49-F238E27FC236}">
                <a16:creationId xmlns:a16="http://schemas.microsoft.com/office/drawing/2014/main" id="{7885BF7F-20ED-86E5-A154-BE24B6E0C4D4}"/>
              </a:ext>
            </a:extLst>
          </p:cNvPr>
          <p:cNvSpPr txBox="1"/>
          <p:nvPr/>
        </p:nvSpPr>
        <p:spPr>
          <a:xfrm>
            <a:off x="199291" y="1265367"/>
            <a:ext cx="5025292" cy="3785652"/>
          </a:xfrm>
          <a:prstGeom prst="rect">
            <a:avLst/>
          </a:prstGeom>
          <a:noFill/>
        </p:spPr>
        <p:txBody>
          <a:bodyPr wrap="square">
            <a:spAutoFit/>
          </a:bodyPr>
          <a:lstStyle/>
          <a:p>
            <a:r>
              <a:rPr lang="en-US" sz="2000" dirty="0"/>
              <a:t>As an Input: </a:t>
            </a:r>
          </a:p>
          <a:p>
            <a:r>
              <a:rPr lang="en-US" sz="2000" dirty="0"/>
              <a:t>The system uses three input sensors: </a:t>
            </a:r>
          </a:p>
          <a:p>
            <a:r>
              <a:rPr lang="en-US" sz="2000" dirty="0"/>
              <a:t>1.Right</a:t>
            </a:r>
          </a:p>
          <a:p>
            <a:r>
              <a:rPr lang="en-US" sz="2000" dirty="0"/>
              <a:t>2.Front</a:t>
            </a:r>
          </a:p>
          <a:p>
            <a:r>
              <a:rPr lang="en-US" sz="2000" dirty="0"/>
              <a:t> 3.Left — to control the robot’s movement through combinational logic.</a:t>
            </a:r>
          </a:p>
          <a:p>
            <a:endParaRPr lang="en-US" sz="2000" dirty="0"/>
          </a:p>
          <a:p>
            <a:r>
              <a:rPr lang="en-US" sz="2000" dirty="0"/>
              <a:t> As an Outputs:</a:t>
            </a:r>
          </a:p>
          <a:p>
            <a:r>
              <a:rPr lang="en-US" sz="2000" dirty="0"/>
              <a:t> ML and MR, are simplified motor control signals derived from the Arduino code and determine the operation of the left and right motors.</a:t>
            </a:r>
          </a:p>
        </p:txBody>
      </p:sp>
      <p:pic>
        <p:nvPicPr>
          <p:cNvPr id="9" name="Picture 8">
            <a:extLst>
              <a:ext uri="{FF2B5EF4-FFF2-40B4-BE49-F238E27FC236}">
                <a16:creationId xmlns:a16="http://schemas.microsoft.com/office/drawing/2014/main" id="{B318CE1D-A6CC-8F32-F6DE-36F164C20EFF}"/>
              </a:ext>
            </a:extLst>
          </p:cNvPr>
          <p:cNvPicPr>
            <a:picLocks noChangeAspect="1"/>
          </p:cNvPicPr>
          <p:nvPr/>
        </p:nvPicPr>
        <p:blipFill>
          <a:blip r:embed="rId2"/>
          <a:stretch>
            <a:fillRect/>
          </a:stretch>
        </p:blipFill>
        <p:spPr>
          <a:xfrm>
            <a:off x="5533294" y="436702"/>
            <a:ext cx="3528646" cy="45358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7E65-8353-D574-92B4-14139A455D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82E66E-7F6E-C8C2-8D57-3E028915BF06}"/>
              </a:ext>
            </a:extLst>
          </p:cNvPr>
          <p:cNvSpPr txBox="1"/>
          <p:nvPr/>
        </p:nvSpPr>
        <p:spPr>
          <a:xfrm>
            <a:off x="300892" y="435303"/>
            <a:ext cx="3419231" cy="523220"/>
          </a:xfrm>
          <a:prstGeom prst="rect">
            <a:avLst/>
          </a:prstGeom>
          <a:noFill/>
        </p:spPr>
        <p:txBody>
          <a:bodyPr wrap="square">
            <a:spAutoFit/>
          </a:bodyPr>
          <a:lstStyle/>
          <a:p>
            <a:r>
              <a:rPr lang="en-US" sz="2800" b="1" dirty="0"/>
              <a:t>5. The Truth Table </a:t>
            </a:r>
          </a:p>
        </p:txBody>
      </p:sp>
      <p:pic>
        <p:nvPicPr>
          <p:cNvPr id="5" name="Picture 4">
            <a:extLst>
              <a:ext uri="{FF2B5EF4-FFF2-40B4-BE49-F238E27FC236}">
                <a16:creationId xmlns:a16="http://schemas.microsoft.com/office/drawing/2014/main" id="{33A49DFF-32BD-4E4C-AA19-0F3913A268D6}"/>
              </a:ext>
            </a:extLst>
          </p:cNvPr>
          <p:cNvPicPr>
            <a:picLocks noChangeAspect="1"/>
          </p:cNvPicPr>
          <p:nvPr/>
        </p:nvPicPr>
        <p:blipFill>
          <a:blip r:embed="rId2"/>
          <a:stretch>
            <a:fillRect/>
          </a:stretch>
        </p:blipFill>
        <p:spPr>
          <a:xfrm>
            <a:off x="4334103" y="435303"/>
            <a:ext cx="4301897" cy="4577279"/>
          </a:xfrm>
          <a:prstGeom prst="rect">
            <a:avLst/>
          </a:prstGeom>
        </p:spPr>
      </p:pic>
      <p:sp>
        <p:nvSpPr>
          <p:cNvPr id="6" name="TextBox 5">
            <a:extLst>
              <a:ext uri="{FF2B5EF4-FFF2-40B4-BE49-F238E27FC236}">
                <a16:creationId xmlns:a16="http://schemas.microsoft.com/office/drawing/2014/main" id="{161F2169-3967-07D8-F455-5E674B25B096}"/>
              </a:ext>
            </a:extLst>
          </p:cNvPr>
          <p:cNvSpPr txBox="1"/>
          <p:nvPr/>
        </p:nvSpPr>
        <p:spPr>
          <a:xfrm>
            <a:off x="434225" y="2310140"/>
            <a:ext cx="3899878" cy="523220"/>
          </a:xfrm>
          <a:prstGeom prst="rect">
            <a:avLst/>
          </a:prstGeom>
          <a:noFill/>
        </p:spPr>
        <p:txBody>
          <a:bodyPr wrap="square" rtlCol="0">
            <a:spAutoFit/>
          </a:bodyPr>
          <a:lstStyle/>
          <a:p>
            <a:r>
              <a:rPr lang="en-US" sz="2800" dirty="0"/>
              <a:t>Code of the truth table:</a:t>
            </a:r>
          </a:p>
        </p:txBody>
      </p:sp>
    </p:spTree>
    <p:extLst>
      <p:ext uri="{BB962C8B-B14F-4D97-AF65-F5344CB8AC3E}">
        <p14:creationId xmlns:p14="http://schemas.microsoft.com/office/powerpoint/2010/main" val="3035076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AD0B0-16B2-17E2-D11F-37F8AA6195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A5C137-274E-99F0-8BAB-0BE27C2AA7BB}"/>
              </a:ext>
            </a:extLst>
          </p:cNvPr>
          <p:cNvPicPr>
            <a:picLocks noChangeAspect="1"/>
          </p:cNvPicPr>
          <p:nvPr/>
        </p:nvPicPr>
        <p:blipFill>
          <a:blip r:embed="rId2"/>
          <a:stretch>
            <a:fillRect/>
          </a:stretch>
        </p:blipFill>
        <p:spPr>
          <a:xfrm>
            <a:off x="4841371" y="766885"/>
            <a:ext cx="3783100" cy="3804176"/>
          </a:xfrm>
          <a:prstGeom prst="rect">
            <a:avLst/>
          </a:prstGeom>
        </p:spPr>
      </p:pic>
      <p:sp>
        <p:nvSpPr>
          <p:cNvPr id="5" name="TextBox 4">
            <a:extLst>
              <a:ext uri="{FF2B5EF4-FFF2-40B4-BE49-F238E27FC236}">
                <a16:creationId xmlns:a16="http://schemas.microsoft.com/office/drawing/2014/main" id="{30C6E6D5-813D-6419-67AB-B765814AD117}"/>
              </a:ext>
            </a:extLst>
          </p:cNvPr>
          <p:cNvSpPr txBox="1"/>
          <p:nvPr/>
        </p:nvSpPr>
        <p:spPr>
          <a:xfrm>
            <a:off x="308708" y="572439"/>
            <a:ext cx="5025292" cy="523220"/>
          </a:xfrm>
          <a:prstGeom prst="rect">
            <a:avLst/>
          </a:prstGeom>
          <a:noFill/>
        </p:spPr>
        <p:txBody>
          <a:bodyPr wrap="square">
            <a:spAutoFit/>
          </a:bodyPr>
          <a:lstStyle/>
          <a:p>
            <a:r>
              <a:rPr lang="en-US" sz="2800" b="1" dirty="0"/>
              <a:t>5. The Truth Table </a:t>
            </a:r>
          </a:p>
        </p:txBody>
      </p:sp>
      <p:sp>
        <p:nvSpPr>
          <p:cNvPr id="7" name="TextBox 6">
            <a:extLst>
              <a:ext uri="{FF2B5EF4-FFF2-40B4-BE49-F238E27FC236}">
                <a16:creationId xmlns:a16="http://schemas.microsoft.com/office/drawing/2014/main" id="{DE888200-6FE1-5D63-8BCD-27B4D25DFE03}"/>
              </a:ext>
            </a:extLst>
          </p:cNvPr>
          <p:cNvSpPr txBox="1"/>
          <p:nvPr/>
        </p:nvSpPr>
        <p:spPr>
          <a:xfrm>
            <a:off x="890650" y="2371694"/>
            <a:ext cx="1684390" cy="461665"/>
          </a:xfrm>
          <a:prstGeom prst="rect">
            <a:avLst/>
          </a:prstGeom>
          <a:noFill/>
        </p:spPr>
        <p:txBody>
          <a:bodyPr wrap="square">
            <a:spAutoFit/>
          </a:bodyPr>
          <a:lstStyle/>
          <a:p>
            <a:r>
              <a:rPr lang="en-US" sz="2400" dirty="0"/>
              <a:t>Its output: </a:t>
            </a:r>
          </a:p>
        </p:txBody>
      </p:sp>
    </p:spTree>
    <p:extLst>
      <p:ext uri="{BB962C8B-B14F-4D97-AF65-F5344CB8AC3E}">
        <p14:creationId xmlns:p14="http://schemas.microsoft.com/office/powerpoint/2010/main" val="2513612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6DA62-09DF-9A24-C4AA-DE9D92533C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1F02C6-0D26-102A-4A70-392E09BCDADE}"/>
              </a:ext>
            </a:extLst>
          </p:cNvPr>
          <p:cNvSpPr txBox="1"/>
          <p:nvPr/>
        </p:nvSpPr>
        <p:spPr>
          <a:xfrm>
            <a:off x="89878" y="424933"/>
            <a:ext cx="5716954" cy="523220"/>
          </a:xfrm>
          <a:prstGeom prst="rect">
            <a:avLst/>
          </a:prstGeom>
          <a:noFill/>
        </p:spPr>
        <p:txBody>
          <a:bodyPr wrap="square">
            <a:spAutoFit/>
          </a:bodyPr>
          <a:lstStyle/>
          <a:p>
            <a:r>
              <a:rPr lang="en-US" sz="2800" b="1" dirty="0"/>
              <a:t>6. Truth Table of the water pump</a:t>
            </a:r>
          </a:p>
        </p:txBody>
      </p:sp>
      <p:sp>
        <p:nvSpPr>
          <p:cNvPr id="5" name="TextBox 4">
            <a:extLst>
              <a:ext uri="{FF2B5EF4-FFF2-40B4-BE49-F238E27FC236}">
                <a16:creationId xmlns:a16="http://schemas.microsoft.com/office/drawing/2014/main" id="{8F679EC5-DD8B-E3EB-C1AF-DBCFEAC38D1D}"/>
              </a:ext>
            </a:extLst>
          </p:cNvPr>
          <p:cNvSpPr txBox="1"/>
          <p:nvPr/>
        </p:nvSpPr>
        <p:spPr>
          <a:xfrm>
            <a:off x="308710" y="1651971"/>
            <a:ext cx="5279291" cy="1938992"/>
          </a:xfrm>
          <a:prstGeom prst="rect">
            <a:avLst/>
          </a:prstGeom>
          <a:noFill/>
        </p:spPr>
        <p:txBody>
          <a:bodyPr wrap="square">
            <a:spAutoFit/>
          </a:bodyPr>
          <a:lstStyle/>
          <a:p>
            <a:r>
              <a:rPr lang="en-US" sz="2400" dirty="0"/>
              <a:t>The table represents a 3-input OR logic gate (L + F + R), where the pump activates when any sensor outputs a signal (1) and turns off only when all sensors are inactive (0).</a:t>
            </a:r>
          </a:p>
        </p:txBody>
      </p:sp>
      <p:pic>
        <p:nvPicPr>
          <p:cNvPr id="7" name="Picture 6">
            <a:extLst>
              <a:ext uri="{FF2B5EF4-FFF2-40B4-BE49-F238E27FC236}">
                <a16:creationId xmlns:a16="http://schemas.microsoft.com/office/drawing/2014/main" id="{534D5180-8D8E-23E4-524D-83520A9F9377}"/>
              </a:ext>
            </a:extLst>
          </p:cNvPr>
          <p:cNvPicPr>
            <a:picLocks noChangeAspect="1"/>
          </p:cNvPicPr>
          <p:nvPr/>
        </p:nvPicPr>
        <p:blipFill>
          <a:blip r:embed="rId2"/>
          <a:stretch>
            <a:fillRect/>
          </a:stretch>
        </p:blipFill>
        <p:spPr>
          <a:xfrm>
            <a:off x="5947509" y="292072"/>
            <a:ext cx="2993291" cy="4658790"/>
          </a:xfrm>
          <a:prstGeom prst="rect">
            <a:avLst/>
          </a:prstGeom>
        </p:spPr>
      </p:pic>
    </p:spTree>
    <p:extLst>
      <p:ext uri="{BB962C8B-B14F-4D97-AF65-F5344CB8AC3E}">
        <p14:creationId xmlns:p14="http://schemas.microsoft.com/office/powerpoint/2010/main" val="2346992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9F00B-D9C2-3527-EBF4-5DF02FD767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7D8543-2998-C605-D9E4-F85834EC18A0}"/>
              </a:ext>
            </a:extLst>
          </p:cNvPr>
          <p:cNvSpPr txBox="1"/>
          <p:nvPr/>
        </p:nvSpPr>
        <p:spPr>
          <a:xfrm>
            <a:off x="316523" y="557795"/>
            <a:ext cx="4005384" cy="523220"/>
          </a:xfrm>
          <a:prstGeom prst="rect">
            <a:avLst/>
          </a:prstGeom>
          <a:noFill/>
        </p:spPr>
        <p:txBody>
          <a:bodyPr wrap="square">
            <a:spAutoFit/>
          </a:bodyPr>
          <a:lstStyle/>
          <a:p>
            <a:r>
              <a:rPr lang="en-US" sz="2800" b="1" dirty="0"/>
              <a:t>7. Code of the Robot</a:t>
            </a:r>
          </a:p>
        </p:txBody>
      </p:sp>
      <p:pic>
        <p:nvPicPr>
          <p:cNvPr id="5" name="Picture 4">
            <a:extLst>
              <a:ext uri="{FF2B5EF4-FFF2-40B4-BE49-F238E27FC236}">
                <a16:creationId xmlns:a16="http://schemas.microsoft.com/office/drawing/2014/main" id="{9CBD7E62-2E80-9E72-5573-108086694F1F}"/>
              </a:ext>
            </a:extLst>
          </p:cNvPr>
          <p:cNvPicPr>
            <a:picLocks noChangeAspect="1"/>
          </p:cNvPicPr>
          <p:nvPr/>
        </p:nvPicPr>
        <p:blipFill>
          <a:blip r:embed="rId2"/>
          <a:stretch>
            <a:fillRect/>
          </a:stretch>
        </p:blipFill>
        <p:spPr>
          <a:xfrm>
            <a:off x="4173738" y="198673"/>
            <a:ext cx="4404201" cy="4873511"/>
          </a:xfrm>
          <a:prstGeom prst="rect">
            <a:avLst/>
          </a:prstGeom>
        </p:spPr>
      </p:pic>
    </p:spTree>
    <p:extLst>
      <p:ext uri="{BB962C8B-B14F-4D97-AF65-F5344CB8AC3E}">
        <p14:creationId xmlns:p14="http://schemas.microsoft.com/office/powerpoint/2010/main" val="2526331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E3172-6468-8CD0-CFD6-00B63D199E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495433-602C-9C0C-4551-BB9B34850598}"/>
              </a:ext>
            </a:extLst>
          </p:cNvPr>
          <p:cNvSpPr txBox="1"/>
          <p:nvPr/>
        </p:nvSpPr>
        <p:spPr>
          <a:xfrm>
            <a:off x="300892" y="331149"/>
            <a:ext cx="4005384" cy="523220"/>
          </a:xfrm>
          <a:prstGeom prst="rect">
            <a:avLst/>
          </a:prstGeom>
          <a:noFill/>
        </p:spPr>
        <p:txBody>
          <a:bodyPr wrap="square">
            <a:spAutoFit/>
          </a:bodyPr>
          <a:lstStyle/>
          <a:p>
            <a:r>
              <a:rPr lang="en-US" sz="2800" b="1" dirty="0"/>
              <a:t>7. Code of the Robot</a:t>
            </a:r>
          </a:p>
        </p:txBody>
      </p:sp>
      <p:pic>
        <p:nvPicPr>
          <p:cNvPr id="4" name="Picture 3">
            <a:extLst>
              <a:ext uri="{FF2B5EF4-FFF2-40B4-BE49-F238E27FC236}">
                <a16:creationId xmlns:a16="http://schemas.microsoft.com/office/drawing/2014/main" id="{07689D9B-3A22-59C9-F23A-61044A1D2F6B}"/>
              </a:ext>
            </a:extLst>
          </p:cNvPr>
          <p:cNvPicPr>
            <a:picLocks noChangeAspect="1"/>
          </p:cNvPicPr>
          <p:nvPr/>
        </p:nvPicPr>
        <p:blipFill>
          <a:blip r:embed="rId2"/>
          <a:stretch>
            <a:fillRect/>
          </a:stretch>
        </p:blipFill>
        <p:spPr>
          <a:xfrm>
            <a:off x="2235200" y="854368"/>
            <a:ext cx="6486769" cy="4022431"/>
          </a:xfrm>
          <a:prstGeom prst="rect">
            <a:avLst/>
          </a:prstGeom>
        </p:spPr>
      </p:pic>
    </p:spTree>
    <p:extLst>
      <p:ext uri="{BB962C8B-B14F-4D97-AF65-F5344CB8AC3E}">
        <p14:creationId xmlns:p14="http://schemas.microsoft.com/office/powerpoint/2010/main" val="3617077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7BC4A-4781-37D0-461A-A3BC56E0BD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359288-0C64-3270-E2C6-5F054C919BE3}"/>
              </a:ext>
            </a:extLst>
          </p:cNvPr>
          <p:cNvSpPr txBox="1"/>
          <p:nvPr/>
        </p:nvSpPr>
        <p:spPr>
          <a:xfrm>
            <a:off x="285261" y="276441"/>
            <a:ext cx="4005384" cy="523220"/>
          </a:xfrm>
          <a:prstGeom prst="rect">
            <a:avLst/>
          </a:prstGeom>
          <a:noFill/>
        </p:spPr>
        <p:txBody>
          <a:bodyPr wrap="square">
            <a:spAutoFit/>
          </a:bodyPr>
          <a:lstStyle/>
          <a:p>
            <a:r>
              <a:rPr lang="en-US" sz="2800" b="1" dirty="0"/>
              <a:t>7. Code of the Robot</a:t>
            </a:r>
          </a:p>
        </p:txBody>
      </p:sp>
      <p:pic>
        <p:nvPicPr>
          <p:cNvPr id="4" name="Picture 3">
            <a:extLst>
              <a:ext uri="{FF2B5EF4-FFF2-40B4-BE49-F238E27FC236}">
                <a16:creationId xmlns:a16="http://schemas.microsoft.com/office/drawing/2014/main" id="{C6D42BA0-04ED-D745-0372-A3C4662D200A}"/>
              </a:ext>
            </a:extLst>
          </p:cNvPr>
          <p:cNvPicPr>
            <a:picLocks noChangeAspect="1"/>
          </p:cNvPicPr>
          <p:nvPr/>
        </p:nvPicPr>
        <p:blipFill>
          <a:blip r:embed="rId2"/>
          <a:stretch>
            <a:fillRect/>
          </a:stretch>
        </p:blipFill>
        <p:spPr>
          <a:xfrm>
            <a:off x="2414953" y="877815"/>
            <a:ext cx="6381007" cy="4071815"/>
          </a:xfrm>
          <a:prstGeom prst="rect">
            <a:avLst/>
          </a:prstGeom>
        </p:spPr>
      </p:pic>
    </p:spTree>
    <p:extLst>
      <p:ext uri="{BB962C8B-B14F-4D97-AF65-F5344CB8AC3E}">
        <p14:creationId xmlns:p14="http://schemas.microsoft.com/office/powerpoint/2010/main" val="3571097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682D8-1D31-F31B-CB69-05AE49FB38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4AE12B-BAF1-6FAC-655D-629F47454A83}"/>
              </a:ext>
            </a:extLst>
          </p:cNvPr>
          <p:cNvSpPr txBox="1"/>
          <p:nvPr/>
        </p:nvSpPr>
        <p:spPr>
          <a:xfrm>
            <a:off x="293077" y="307703"/>
            <a:ext cx="4005384" cy="523220"/>
          </a:xfrm>
          <a:prstGeom prst="rect">
            <a:avLst/>
          </a:prstGeom>
          <a:noFill/>
        </p:spPr>
        <p:txBody>
          <a:bodyPr wrap="square">
            <a:spAutoFit/>
          </a:bodyPr>
          <a:lstStyle/>
          <a:p>
            <a:r>
              <a:rPr lang="en-US" sz="2800" b="1" dirty="0"/>
              <a:t>7. Code of the Robot</a:t>
            </a:r>
          </a:p>
        </p:txBody>
      </p:sp>
      <p:pic>
        <p:nvPicPr>
          <p:cNvPr id="4" name="Picture 3">
            <a:extLst>
              <a:ext uri="{FF2B5EF4-FFF2-40B4-BE49-F238E27FC236}">
                <a16:creationId xmlns:a16="http://schemas.microsoft.com/office/drawing/2014/main" id="{D7DE585C-6B54-32B7-934B-CA76018BA892}"/>
              </a:ext>
            </a:extLst>
          </p:cNvPr>
          <p:cNvPicPr>
            <a:picLocks noChangeAspect="1"/>
          </p:cNvPicPr>
          <p:nvPr/>
        </p:nvPicPr>
        <p:blipFill>
          <a:blip r:embed="rId2"/>
          <a:stretch>
            <a:fillRect/>
          </a:stretch>
        </p:blipFill>
        <p:spPr>
          <a:xfrm>
            <a:off x="2499959" y="830923"/>
            <a:ext cx="6350964" cy="4163929"/>
          </a:xfrm>
          <a:prstGeom prst="rect">
            <a:avLst/>
          </a:prstGeom>
        </p:spPr>
      </p:pic>
    </p:spTree>
    <p:extLst>
      <p:ext uri="{BB962C8B-B14F-4D97-AF65-F5344CB8AC3E}">
        <p14:creationId xmlns:p14="http://schemas.microsoft.com/office/powerpoint/2010/main" val="2098970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5937-23D1-A5CF-CEFE-C8666E8A2A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D336C8-0010-56F9-698D-E9FE6B429F12}"/>
              </a:ext>
            </a:extLst>
          </p:cNvPr>
          <p:cNvSpPr txBox="1"/>
          <p:nvPr/>
        </p:nvSpPr>
        <p:spPr>
          <a:xfrm>
            <a:off x="293077" y="296185"/>
            <a:ext cx="4005384" cy="523220"/>
          </a:xfrm>
          <a:prstGeom prst="rect">
            <a:avLst/>
          </a:prstGeom>
          <a:noFill/>
        </p:spPr>
        <p:txBody>
          <a:bodyPr wrap="square">
            <a:spAutoFit/>
          </a:bodyPr>
          <a:lstStyle/>
          <a:p>
            <a:r>
              <a:rPr lang="en-US" sz="2800" b="1" dirty="0"/>
              <a:t>7. Code of the Robot</a:t>
            </a:r>
          </a:p>
        </p:txBody>
      </p:sp>
      <p:pic>
        <p:nvPicPr>
          <p:cNvPr id="4" name="Picture 3">
            <a:extLst>
              <a:ext uri="{FF2B5EF4-FFF2-40B4-BE49-F238E27FC236}">
                <a16:creationId xmlns:a16="http://schemas.microsoft.com/office/drawing/2014/main" id="{6CEA1F26-A78D-5C64-F08B-7D7A32D20682}"/>
              </a:ext>
            </a:extLst>
          </p:cNvPr>
          <p:cNvPicPr>
            <a:picLocks noChangeAspect="1"/>
          </p:cNvPicPr>
          <p:nvPr/>
        </p:nvPicPr>
        <p:blipFill>
          <a:blip r:embed="rId2"/>
          <a:stretch>
            <a:fillRect/>
          </a:stretch>
        </p:blipFill>
        <p:spPr>
          <a:xfrm>
            <a:off x="3104080" y="819405"/>
            <a:ext cx="5547551" cy="4104307"/>
          </a:xfrm>
          <a:prstGeom prst="rect">
            <a:avLst/>
          </a:prstGeom>
        </p:spPr>
      </p:pic>
    </p:spTree>
    <p:extLst>
      <p:ext uri="{BB962C8B-B14F-4D97-AF65-F5344CB8AC3E}">
        <p14:creationId xmlns:p14="http://schemas.microsoft.com/office/powerpoint/2010/main" val="1924309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15E76-CEA2-EC7E-352B-6D2AC7E68A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175AAB-86ED-B8BF-D348-1E3BEFCDFD03}"/>
              </a:ext>
            </a:extLst>
          </p:cNvPr>
          <p:cNvSpPr txBox="1"/>
          <p:nvPr/>
        </p:nvSpPr>
        <p:spPr>
          <a:xfrm>
            <a:off x="316523" y="346780"/>
            <a:ext cx="5025292" cy="523220"/>
          </a:xfrm>
          <a:prstGeom prst="rect">
            <a:avLst/>
          </a:prstGeom>
          <a:noFill/>
        </p:spPr>
        <p:txBody>
          <a:bodyPr wrap="square">
            <a:spAutoFit/>
          </a:bodyPr>
          <a:lstStyle/>
          <a:p>
            <a:r>
              <a:rPr lang="en-US" sz="2800" b="1" dirty="0"/>
              <a:t>8. Its components</a:t>
            </a:r>
          </a:p>
        </p:txBody>
      </p:sp>
      <p:sp>
        <p:nvSpPr>
          <p:cNvPr id="4" name="TextBox 3">
            <a:extLst>
              <a:ext uri="{FF2B5EF4-FFF2-40B4-BE49-F238E27FC236}">
                <a16:creationId xmlns:a16="http://schemas.microsoft.com/office/drawing/2014/main" id="{A29CD587-57CC-E31B-F0CC-828A1DCE6C24}"/>
              </a:ext>
            </a:extLst>
          </p:cNvPr>
          <p:cNvSpPr txBox="1"/>
          <p:nvPr/>
        </p:nvSpPr>
        <p:spPr>
          <a:xfrm>
            <a:off x="625231" y="915724"/>
            <a:ext cx="2403231" cy="369332"/>
          </a:xfrm>
          <a:prstGeom prst="rect">
            <a:avLst/>
          </a:prstGeom>
          <a:noFill/>
        </p:spPr>
        <p:txBody>
          <a:bodyPr wrap="square">
            <a:spAutoFit/>
          </a:bodyPr>
          <a:lstStyle/>
          <a:p>
            <a:r>
              <a:rPr lang="en-US" dirty="0"/>
              <a:t>1-Flame Sensor 4 Pin</a:t>
            </a:r>
          </a:p>
        </p:txBody>
      </p:sp>
      <p:pic>
        <p:nvPicPr>
          <p:cNvPr id="6" name="Picture 5">
            <a:extLst>
              <a:ext uri="{FF2B5EF4-FFF2-40B4-BE49-F238E27FC236}">
                <a16:creationId xmlns:a16="http://schemas.microsoft.com/office/drawing/2014/main" id="{94915ABE-D8F7-2B3A-1DED-02F77352C727}"/>
              </a:ext>
            </a:extLst>
          </p:cNvPr>
          <p:cNvPicPr>
            <a:picLocks noChangeAspect="1"/>
          </p:cNvPicPr>
          <p:nvPr/>
        </p:nvPicPr>
        <p:blipFill>
          <a:blip r:embed="rId2"/>
          <a:stretch>
            <a:fillRect/>
          </a:stretch>
        </p:blipFill>
        <p:spPr>
          <a:xfrm>
            <a:off x="1097608" y="3537015"/>
            <a:ext cx="1458475" cy="1131575"/>
          </a:xfrm>
          <a:prstGeom prst="rect">
            <a:avLst/>
          </a:prstGeom>
        </p:spPr>
      </p:pic>
      <p:sp>
        <p:nvSpPr>
          <p:cNvPr id="8" name="TextBox 7">
            <a:extLst>
              <a:ext uri="{FF2B5EF4-FFF2-40B4-BE49-F238E27FC236}">
                <a16:creationId xmlns:a16="http://schemas.microsoft.com/office/drawing/2014/main" id="{62C4DA94-BB70-46FA-CBC0-CB0489135293}"/>
              </a:ext>
            </a:extLst>
          </p:cNvPr>
          <p:cNvSpPr txBox="1"/>
          <p:nvPr/>
        </p:nvSpPr>
        <p:spPr>
          <a:xfrm>
            <a:off x="625231" y="1606485"/>
            <a:ext cx="3141784" cy="1477328"/>
          </a:xfrm>
          <a:prstGeom prst="rect">
            <a:avLst/>
          </a:prstGeom>
          <a:noFill/>
        </p:spPr>
        <p:txBody>
          <a:bodyPr wrap="square">
            <a:spAutoFit/>
          </a:bodyPr>
          <a:lstStyle/>
          <a:p>
            <a:r>
              <a:rPr lang="en-US" dirty="0"/>
              <a:t>Detects fire by sensing infrared light from flames and is commonly used in fire alarms and firefighting robots.</a:t>
            </a:r>
          </a:p>
        </p:txBody>
      </p:sp>
      <p:sp>
        <p:nvSpPr>
          <p:cNvPr id="10" name="TextBox 9">
            <a:extLst>
              <a:ext uri="{FF2B5EF4-FFF2-40B4-BE49-F238E27FC236}">
                <a16:creationId xmlns:a16="http://schemas.microsoft.com/office/drawing/2014/main" id="{DA04ECCD-C132-055E-51E6-21732106F3B2}"/>
              </a:ext>
            </a:extLst>
          </p:cNvPr>
          <p:cNvSpPr txBox="1"/>
          <p:nvPr/>
        </p:nvSpPr>
        <p:spPr>
          <a:xfrm>
            <a:off x="4927599" y="915062"/>
            <a:ext cx="3591170" cy="369332"/>
          </a:xfrm>
          <a:prstGeom prst="rect">
            <a:avLst/>
          </a:prstGeom>
          <a:noFill/>
        </p:spPr>
        <p:txBody>
          <a:bodyPr wrap="square">
            <a:spAutoFit/>
          </a:bodyPr>
          <a:lstStyle/>
          <a:p>
            <a:r>
              <a:rPr lang="en-US" dirty="0"/>
              <a:t>2- DC Geared Motor with wheel </a:t>
            </a:r>
          </a:p>
        </p:txBody>
      </p:sp>
      <p:pic>
        <p:nvPicPr>
          <p:cNvPr id="12" name="Picture 11">
            <a:extLst>
              <a:ext uri="{FF2B5EF4-FFF2-40B4-BE49-F238E27FC236}">
                <a16:creationId xmlns:a16="http://schemas.microsoft.com/office/drawing/2014/main" id="{99E40152-F21C-101B-9DE5-77FB94AB20BB}"/>
              </a:ext>
            </a:extLst>
          </p:cNvPr>
          <p:cNvPicPr>
            <a:picLocks noChangeAspect="1"/>
          </p:cNvPicPr>
          <p:nvPr/>
        </p:nvPicPr>
        <p:blipFill>
          <a:blip r:embed="rId3"/>
          <a:stretch>
            <a:fillRect/>
          </a:stretch>
        </p:blipFill>
        <p:spPr>
          <a:xfrm>
            <a:off x="6119448" y="3537015"/>
            <a:ext cx="1594169" cy="1348926"/>
          </a:xfrm>
          <a:prstGeom prst="rect">
            <a:avLst/>
          </a:prstGeom>
        </p:spPr>
      </p:pic>
      <p:sp>
        <p:nvSpPr>
          <p:cNvPr id="14" name="TextBox 13">
            <a:extLst>
              <a:ext uri="{FF2B5EF4-FFF2-40B4-BE49-F238E27FC236}">
                <a16:creationId xmlns:a16="http://schemas.microsoft.com/office/drawing/2014/main" id="{DB0BFA7B-65DE-54E9-315B-2BA0F8C74B83}"/>
              </a:ext>
            </a:extLst>
          </p:cNvPr>
          <p:cNvSpPr txBox="1"/>
          <p:nvPr/>
        </p:nvSpPr>
        <p:spPr>
          <a:xfrm>
            <a:off x="5232401" y="1470702"/>
            <a:ext cx="3708398" cy="1754326"/>
          </a:xfrm>
          <a:prstGeom prst="rect">
            <a:avLst/>
          </a:prstGeom>
          <a:noFill/>
        </p:spPr>
        <p:txBody>
          <a:bodyPr wrap="square">
            <a:spAutoFit/>
          </a:bodyPr>
          <a:lstStyle/>
          <a:p>
            <a:r>
              <a:rPr lang="en-US" dirty="0"/>
              <a:t>A DC gear motor converts electrical energy into rotational motion, using a built-in gearbox to reduce speed and increase torque for driving wheels or moving platforms.</a:t>
            </a:r>
          </a:p>
        </p:txBody>
      </p:sp>
    </p:spTree>
    <p:extLst>
      <p:ext uri="{BB962C8B-B14F-4D97-AF65-F5344CB8AC3E}">
        <p14:creationId xmlns:p14="http://schemas.microsoft.com/office/powerpoint/2010/main" val="3299098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399F-A856-C089-239C-04A2A421F0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4F9D1B-BEB2-D36F-1483-430A26950F3F}"/>
              </a:ext>
            </a:extLst>
          </p:cNvPr>
          <p:cNvSpPr txBox="1"/>
          <p:nvPr/>
        </p:nvSpPr>
        <p:spPr>
          <a:xfrm>
            <a:off x="316523" y="346780"/>
            <a:ext cx="5025292" cy="523220"/>
          </a:xfrm>
          <a:prstGeom prst="rect">
            <a:avLst/>
          </a:prstGeom>
          <a:noFill/>
        </p:spPr>
        <p:txBody>
          <a:bodyPr wrap="square">
            <a:spAutoFit/>
          </a:bodyPr>
          <a:lstStyle/>
          <a:p>
            <a:r>
              <a:rPr lang="en-US" sz="2800" b="1" dirty="0"/>
              <a:t>8. Its components</a:t>
            </a:r>
          </a:p>
        </p:txBody>
      </p:sp>
      <p:sp>
        <p:nvSpPr>
          <p:cNvPr id="5" name="TextBox 4">
            <a:extLst>
              <a:ext uri="{FF2B5EF4-FFF2-40B4-BE49-F238E27FC236}">
                <a16:creationId xmlns:a16="http://schemas.microsoft.com/office/drawing/2014/main" id="{FBE0F067-56DC-1C3E-CFEE-4264BBC5D2AC}"/>
              </a:ext>
            </a:extLst>
          </p:cNvPr>
          <p:cNvSpPr txBox="1"/>
          <p:nvPr/>
        </p:nvSpPr>
        <p:spPr>
          <a:xfrm>
            <a:off x="365368" y="1062626"/>
            <a:ext cx="3536461" cy="369332"/>
          </a:xfrm>
          <a:prstGeom prst="rect">
            <a:avLst/>
          </a:prstGeom>
          <a:noFill/>
        </p:spPr>
        <p:txBody>
          <a:bodyPr wrap="square">
            <a:spAutoFit/>
          </a:bodyPr>
          <a:lstStyle/>
          <a:p>
            <a:r>
              <a:rPr lang="en-US" dirty="0"/>
              <a:t>3-Motor Driver Module (L298N)</a:t>
            </a:r>
          </a:p>
        </p:txBody>
      </p:sp>
      <p:pic>
        <p:nvPicPr>
          <p:cNvPr id="7" name="Picture 6">
            <a:extLst>
              <a:ext uri="{FF2B5EF4-FFF2-40B4-BE49-F238E27FC236}">
                <a16:creationId xmlns:a16="http://schemas.microsoft.com/office/drawing/2014/main" id="{FBCC7D87-D51D-3F1A-0621-F6C4FB26D875}"/>
              </a:ext>
            </a:extLst>
          </p:cNvPr>
          <p:cNvPicPr>
            <a:picLocks noChangeAspect="1"/>
          </p:cNvPicPr>
          <p:nvPr/>
        </p:nvPicPr>
        <p:blipFill>
          <a:blip r:embed="rId2"/>
          <a:stretch>
            <a:fillRect/>
          </a:stretch>
        </p:blipFill>
        <p:spPr>
          <a:xfrm>
            <a:off x="1091967" y="3380212"/>
            <a:ext cx="1098525" cy="1122937"/>
          </a:xfrm>
          <a:prstGeom prst="rect">
            <a:avLst/>
          </a:prstGeom>
        </p:spPr>
      </p:pic>
      <p:sp>
        <p:nvSpPr>
          <p:cNvPr id="9" name="TextBox 8">
            <a:extLst>
              <a:ext uri="{FF2B5EF4-FFF2-40B4-BE49-F238E27FC236}">
                <a16:creationId xmlns:a16="http://schemas.microsoft.com/office/drawing/2014/main" id="{54EDF157-1327-9A01-EE90-FE1B44B5B3FC}"/>
              </a:ext>
            </a:extLst>
          </p:cNvPr>
          <p:cNvSpPr txBox="1"/>
          <p:nvPr/>
        </p:nvSpPr>
        <p:spPr>
          <a:xfrm>
            <a:off x="316523" y="1709602"/>
            <a:ext cx="4161693" cy="1200329"/>
          </a:xfrm>
          <a:prstGeom prst="rect">
            <a:avLst/>
          </a:prstGeom>
          <a:noFill/>
        </p:spPr>
        <p:txBody>
          <a:bodyPr wrap="square">
            <a:spAutoFit/>
          </a:bodyPr>
          <a:lstStyle/>
          <a:p>
            <a:r>
              <a:rPr lang="en-US" dirty="0"/>
              <a:t>Acts as an interface between a microcontroller and motors, allowing speed and direction control through low-power signals.</a:t>
            </a:r>
          </a:p>
        </p:txBody>
      </p:sp>
      <p:sp>
        <p:nvSpPr>
          <p:cNvPr id="11" name="TextBox 10">
            <a:extLst>
              <a:ext uri="{FF2B5EF4-FFF2-40B4-BE49-F238E27FC236}">
                <a16:creationId xmlns:a16="http://schemas.microsoft.com/office/drawing/2014/main" id="{D542EF89-9B82-A07D-445C-2BF486D15120}"/>
              </a:ext>
            </a:extLst>
          </p:cNvPr>
          <p:cNvSpPr txBox="1"/>
          <p:nvPr/>
        </p:nvSpPr>
        <p:spPr>
          <a:xfrm>
            <a:off x="5062416" y="1623632"/>
            <a:ext cx="3895969" cy="1200329"/>
          </a:xfrm>
          <a:prstGeom prst="rect">
            <a:avLst/>
          </a:prstGeom>
          <a:noFill/>
        </p:spPr>
        <p:txBody>
          <a:bodyPr wrap="square">
            <a:spAutoFit/>
          </a:bodyPr>
          <a:lstStyle/>
          <a:p>
            <a:r>
              <a:rPr lang="en-US" dirty="0"/>
              <a:t>A solderless prototyping board used to build and test circuits with easy, reusable wiring through internally connected rows and columns.</a:t>
            </a:r>
          </a:p>
        </p:txBody>
      </p:sp>
      <p:sp>
        <p:nvSpPr>
          <p:cNvPr id="13" name="TextBox 12">
            <a:extLst>
              <a:ext uri="{FF2B5EF4-FFF2-40B4-BE49-F238E27FC236}">
                <a16:creationId xmlns:a16="http://schemas.microsoft.com/office/drawing/2014/main" id="{DACF20CA-F800-8DCA-F485-D1C985FC4907}"/>
              </a:ext>
            </a:extLst>
          </p:cNvPr>
          <p:cNvSpPr txBox="1"/>
          <p:nvPr/>
        </p:nvSpPr>
        <p:spPr>
          <a:xfrm>
            <a:off x="5062416" y="987398"/>
            <a:ext cx="1613877" cy="369332"/>
          </a:xfrm>
          <a:prstGeom prst="rect">
            <a:avLst/>
          </a:prstGeom>
          <a:noFill/>
        </p:spPr>
        <p:txBody>
          <a:bodyPr wrap="square">
            <a:spAutoFit/>
          </a:bodyPr>
          <a:lstStyle/>
          <a:p>
            <a:r>
              <a:rPr lang="en-US" dirty="0"/>
              <a:t>4-Breadboard</a:t>
            </a:r>
          </a:p>
        </p:txBody>
      </p:sp>
      <p:pic>
        <p:nvPicPr>
          <p:cNvPr id="15" name="Picture 14">
            <a:extLst>
              <a:ext uri="{FF2B5EF4-FFF2-40B4-BE49-F238E27FC236}">
                <a16:creationId xmlns:a16="http://schemas.microsoft.com/office/drawing/2014/main" id="{AD1B5B9C-735D-4FA0-449D-8EC0E6A75C35}"/>
              </a:ext>
            </a:extLst>
          </p:cNvPr>
          <p:cNvPicPr>
            <a:picLocks noChangeAspect="1"/>
          </p:cNvPicPr>
          <p:nvPr/>
        </p:nvPicPr>
        <p:blipFill>
          <a:blip r:embed="rId3"/>
          <a:stretch>
            <a:fillRect/>
          </a:stretch>
        </p:blipFill>
        <p:spPr>
          <a:xfrm>
            <a:off x="6365202" y="3357765"/>
            <a:ext cx="1145384" cy="1145384"/>
          </a:xfrm>
          <a:prstGeom prst="rect">
            <a:avLst/>
          </a:prstGeom>
        </p:spPr>
      </p:pic>
    </p:spTree>
    <p:extLst>
      <p:ext uri="{BB962C8B-B14F-4D97-AF65-F5344CB8AC3E}">
        <p14:creationId xmlns:p14="http://schemas.microsoft.com/office/powerpoint/2010/main" val="827548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03727-AB95-054A-5AE2-5D14727D40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8C7110-D405-B117-76C2-2CB2791E775F}"/>
              </a:ext>
            </a:extLst>
          </p:cNvPr>
          <p:cNvSpPr txBox="1"/>
          <p:nvPr/>
        </p:nvSpPr>
        <p:spPr>
          <a:xfrm>
            <a:off x="316523" y="346780"/>
            <a:ext cx="5025292" cy="523220"/>
          </a:xfrm>
          <a:prstGeom prst="rect">
            <a:avLst/>
          </a:prstGeom>
          <a:noFill/>
        </p:spPr>
        <p:txBody>
          <a:bodyPr wrap="square">
            <a:spAutoFit/>
          </a:bodyPr>
          <a:lstStyle/>
          <a:p>
            <a:r>
              <a:rPr lang="en-US" sz="2800" b="1" dirty="0"/>
              <a:t>8. Its components</a:t>
            </a:r>
          </a:p>
        </p:txBody>
      </p:sp>
      <p:sp>
        <p:nvSpPr>
          <p:cNvPr id="4" name="TextBox 3">
            <a:extLst>
              <a:ext uri="{FF2B5EF4-FFF2-40B4-BE49-F238E27FC236}">
                <a16:creationId xmlns:a16="http://schemas.microsoft.com/office/drawing/2014/main" id="{98B64533-370B-2490-3D06-2EA167690F83}"/>
              </a:ext>
            </a:extLst>
          </p:cNvPr>
          <p:cNvSpPr txBox="1"/>
          <p:nvPr/>
        </p:nvSpPr>
        <p:spPr>
          <a:xfrm>
            <a:off x="228598" y="1042845"/>
            <a:ext cx="3169139" cy="369332"/>
          </a:xfrm>
          <a:prstGeom prst="rect">
            <a:avLst/>
          </a:prstGeom>
          <a:noFill/>
        </p:spPr>
        <p:txBody>
          <a:bodyPr wrap="square">
            <a:spAutoFit/>
          </a:bodyPr>
          <a:lstStyle/>
          <a:p>
            <a:r>
              <a:rPr lang="en-US" dirty="0"/>
              <a:t>5-Submersible Water Pump</a:t>
            </a:r>
          </a:p>
        </p:txBody>
      </p:sp>
      <p:pic>
        <p:nvPicPr>
          <p:cNvPr id="6" name="Picture 5">
            <a:extLst>
              <a:ext uri="{FF2B5EF4-FFF2-40B4-BE49-F238E27FC236}">
                <a16:creationId xmlns:a16="http://schemas.microsoft.com/office/drawing/2014/main" id="{272651F9-66FA-820B-DE2C-9C521B028963}"/>
              </a:ext>
            </a:extLst>
          </p:cNvPr>
          <p:cNvPicPr>
            <a:picLocks noChangeAspect="1"/>
          </p:cNvPicPr>
          <p:nvPr/>
        </p:nvPicPr>
        <p:blipFill>
          <a:blip r:embed="rId2"/>
          <a:stretch>
            <a:fillRect/>
          </a:stretch>
        </p:blipFill>
        <p:spPr>
          <a:xfrm>
            <a:off x="1011960" y="3468634"/>
            <a:ext cx="1160717" cy="1111474"/>
          </a:xfrm>
          <a:prstGeom prst="rect">
            <a:avLst/>
          </a:prstGeom>
        </p:spPr>
      </p:pic>
      <p:sp>
        <p:nvSpPr>
          <p:cNvPr id="8" name="TextBox 7">
            <a:extLst>
              <a:ext uri="{FF2B5EF4-FFF2-40B4-BE49-F238E27FC236}">
                <a16:creationId xmlns:a16="http://schemas.microsoft.com/office/drawing/2014/main" id="{AAE9C5E6-2A7D-DE73-D889-6E4E8303D416}"/>
              </a:ext>
            </a:extLst>
          </p:cNvPr>
          <p:cNvSpPr txBox="1"/>
          <p:nvPr/>
        </p:nvSpPr>
        <p:spPr>
          <a:xfrm>
            <a:off x="5582140" y="851215"/>
            <a:ext cx="3245337" cy="923330"/>
          </a:xfrm>
          <a:prstGeom prst="rect">
            <a:avLst/>
          </a:prstGeom>
          <a:noFill/>
        </p:spPr>
        <p:txBody>
          <a:bodyPr wrap="square">
            <a:spAutoFit/>
          </a:bodyPr>
          <a:lstStyle/>
          <a:p>
            <a:r>
              <a:rPr lang="en-US" dirty="0"/>
              <a:t>6-ON/OFF Black Switch 2Pins</a:t>
            </a:r>
          </a:p>
          <a:p>
            <a:r>
              <a:rPr lang="en-US" dirty="0"/>
              <a:t>KCD1-11 </a:t>
            </a:r>
          </a:p>
          <a:p>
            <a:r>
              <a:rPr lang="en-US" dirty="0"/>
              <a:t>Dim:14*9mm</a:t>
            </a:r>
          </a:p>
        </p:txBody>
      </p:sp>
      <p:pic>
        <p:nvPicPr>
          <p:cNvPr id="10" name="Picture 9">
            <a:extLst>
              <a:ext uri="{FF2B5EF4-FFF2-40B4-BE49-F238E27FC236}">
                <a16:creationId xmlns:a16="http://schemas.microsoft.com/office/drawing/2014/main" id="{3CF77A1E-D22B-61EC-C067-40058FFF0534}"/>
              </a:ext>
            </a:extLst>
          </p:cNvPr>
          <p:cNvPicPr>
            <a:picLocks noChangeAspect="1"/>
          </p:cNvPicPr>
          <p:nvPr/>
        </p:nvPicPr>
        <p:blipFill>
          <a:blip r:embed="rId3"/>
          <a:stretch>
            <a:fillRect/>
          </a:stretch>
        </p:blipFill>
        <p:spPr>
          <a:xfrm>
            <a:off x="6696268" y="3379779"/>
            <a:ext cx="1028106" cy="1249021"/>
          </a:xfrm>
          <a:prstGeom prst="rect">
            <a:avLst/>
          </a:prstGeom>
        </p:spPr>
      </p:pic>
      <p:sp>
        <p:nvSpPr>
          <p:cNvPr id="12" name="TextBox 11">
            <a:extLst>
              <a:ext uri="{FF2B5EF4-FFF2-40B4-BE49-F238E27FC236}">
                <a16:creationId xmlns:a16="http://schemas.microsoft.com/office/drawing/2014/main" id="{209D3C79-2AA6-573D-5880-41C50AF08BA2}"/>
              </a:ext>
            </a:extLst>
          </p:cNvPr>
          <p:cNvSpPr txBox="1"/>
          <p:nvPr/>
        </p:nvSpPr>
        <p:spPr>
          <a:xfrm>
            <a:off x="228598" y="1726128"/>
            <a:ext cx="4343402" cy="1200329"/>
          </a:xfrm>
          <a:prstGeom prst="rect">
            <a:avLst/>
          </a:prstGeom>
          <a:noFill/>
        </p:spPr>
        <p:txBody>
          <a:bodyPr wrap="square">
            <a:spAutoFit/>
          </a:bodyPr>
          <a:lstStyle/>
          <a:p>
            <a:r>
              <a:rPr lang="en-US" dirty="0"/>
              <a:t>A submerged pump used to move water, commonly applied in irrigation systems, aquariums, and firefighting robots for spraying water when fire is detected.</a:t>
            </a:r>
          </a:p>
        </p:txBody>
      </p:sp>
      <p:sp>
        <p:nvSpPr>
          <p:cNvPr id="14" name="TextBox 13">
            <a:extLst>
              <a:ext uri="{FF2B5EF4-FFF2-40B4-BE49-F238E27FC236}">
                <a16:creationId xmlns:a16="http://schemas.microsoft.com/office/drawing/2014/main" id="{53F7D6AE-CBE0-B319-E1BE-1E870396D9D6}"/>
              </a:ext>
            </a:extLst>
          </p:cNvPr>
          <p:cNvSpPr txBox="1"/>
          <p:nvPr/>
        </p:nvSpPr>
        <p:spPr>
          <a:xfrm>
            <a:off x="5582140" y="1838498"/>
            <a:ext cx="3333262" cy="1477328"/>
          </a:xfrm>
          <a:prstGeom prst="rect">
            <a:avLst/>
          </a:prstGeom>
          <a:noFill/>
        </p:spPr>
        <p:txBody>
          <a:bodyPr wrap="square">
            <a:spAutoFit/>
          </a:bodyPr>
          <a:lstStyle/>
          <a:p>
            <a:r>
              <a:rPr lang="en-US" dirty="0"/>
              <a:t>A basic switch used to connect or disconnect power in a circuit, often acting as the main power control for a device or project.</a:t>
            </a:r>
          </a:p>
        </p:txBody>
      </p:sp>
    </p:spTree>
    <p:extLst>
      <p:ext uri="{BB962C8B-B14F-4D97-AF65-F5344CB8AC3E}">
        <p14:creationId xmlns:p14="http://schemas.microsoft.com/office/powerpoint/2010/main" val="18646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B32CF-DE30-4F9D-221C-06026470DE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09E839-9062-6B15-270E-6A37C81C683C}"/>
              </a:ext>
            </a:extLst>
          </p:cNvPr>
          <p:cNvSpPr txBox="1"/>
          <p:nvPr/>
        </p:nvSpPr>
        <p:spPr>
          <a:xfrm>
            <a:off x="316523" y="346780"/>
            <a:ext cx="5025292" cy="523220"/>
          </a:xfrm>
          <a:prstGeom prst="rect">
            <a:avLst/>
          </a:prstGeom>
          <a:noFill/>
        </p:spPr>
        <p:txBody>
          <a:bodyPr wrap="square">
            <a:spAutoFit/>
          </a:bodyPr>
          <a:lstStyle/>
          <a:p>
            <a:r>
              <a:rPr lang="en-US" sz="2800" b="1" dirty="0"/>
              <a:t>8. Its components</a:t>
            </a:r>
          </a:p>
        </p:txBody>
      </p:sp>
      <p:sp>
        <p:nvSpPr>
          <p:cNvPr id="4" name="TextBox 3">
            <a:extLst>
              <a:ext uri="{FF2B5EF4-FFF2-40B4-BE49-F238E27FC236}">
                <a16:creationId xmlns:a16="http://schemas.microsoft.com/office/drawing/2014/main" id="{87D3EDFD-3824-EBD6-9C62-F08173A1BBD3}"/>
              </a:ext>
            </a:extLst>
          </p:cNvPr>
          <p:cNvSpPr txBox="1"/>
          <p:nvPr/>
        </p:nvSpPr>
        <p:spPr>
          <a:xfrm>
            <a:off x="304150" y="952052"/>
            <a:ext cx="2098431" cy="923330"/>
          </a:xfrm>
          <a:prstGeom prst="rect">
            <a:avLst/>
          </a:prstGeom>
          <a:noFill/>
        </p:spPr>
        <p:txBody>
          <a:bodyPr wrap="square">
            <a:spAutoFit/>
          </a:bodyPr>
          <a:lstStyle/>
          <a:p>
            <a:r>
              <a:rPr lang="en-US" dirty="0"/>
              <a:t>18650Battery Cell</a:t>
            </a:r>
          </a:p>
          <a:p>
            <a:r>
              <a:rPr lang="en-US" dirty="0"/>
              <a:t>(USED) - </a:t>
            </a:r>
          </a:p>
          <a:p>
            <a:r>
              <a:rPr lang="en-US" dirty="0"/>
              <a:t>1800mAh</a:t>
            </a:r>
          </a:p>
        </p:txBody>
      </p:sp>
      <p:pic>
        <p:nvPicPr>
          <p:cNvPr id="6" name="Picture 5">
            <a:extLst>
              <a:ext uri="{FF2B5EF4-FFF2-40B4-BE49-F238E27FC236}">
                <a16:creationId xmlns:a16="http://schemas.microsoft.com/office/drawing/2014/main" id="{7EB23BB5-B181-8071-78FD-8E2A8223BCB3}"/>
              </a:ext>
            </a:extLst>
          </p:cNvPr>
          <p:cNvPicPr>
            <a:picLocks noChangeAspect="1"/>
          </p:cNvPicPr>
          <p:nvPr/>
        </p:nvPicPr>
        <p:blipFill>
          <a:blip r:embed="rId2"/>
          <a:stretch>
            <a:fillRect/>
          </a:stretch>
        </p:blipFill>
        <p:spPr>
          <a:xfrm>
            <a:off x="945471" y="3749887"/>
            <a:ext cx="1664352" cy="1024217"/>
          </a:xfrm>
          <a:prstGeom prst="rect">
            <a:avLst/>
          </a:prstGeom>
        </p:spPr>
      </p:pic>
      <p:sp>
        <p:nvSpPr>
          <p:cNvPr id="10" name="TextBox 9">
            <a:extLst>
              <a:ext uri="{FF2B5EF4-FFF2-40B4-BE49-F238E27FC236}">
                <a16:creationId xmlns:a16="http://schemas.microsoft.com/office/drawing/2014/main" id="{DF195681-8ACA-F287-7C8B-3E54D0F3EEBA}"/>
              </a:ext>
            </a:extLst>
          </p:cNvPr>
          <p:cNvSpPr txBox="1"/>
          <p:nvPr/>
        </p:nvSpPr>
        <p:spPr>
          <a:xfrm>
            <a:off x="172346" y="1927194"/>
            <a:ext cx="4278923" cy="1477328"/>
          </a:xfrm>
          <a:prstGeom prst="rect">
            <a:avLst/>
          </a:prstGeom>
          <a:noFill/>
        </p:spPr>
        <p:txBody>
          <a:bodyPr wrap="square">
            <a:spAutoFit/>
          </a:bodyPr>
          <a:lstStyle/>
          <a:p>
            <a:r>
              <a:rPr lang="en-US" dirty="0"/>
              <a:t>A rechargeable portable power source that supplies energy to all components, including the motors, pump, and microcontroller, enabling the robot to operate wirelessly and move freely.</a:t>
            </a:r>
          </a:p>
        </p:txBody>
      </p:sp>
      <p:sp>
        <p:nvSpPr>
          <p:cNvPr id="12" name="TextBox 11">
            <a:extLst>
              <a:ext uri="{FF2B5EF4-FFF2-40B4-BE49-F238E27FC236}">
                <a16:creationId xmlns:a16="http://schemas.microsoft.com/office/drawing/2014/main" id="{DE61FC82-FC82-B6D5-1E5D-7443814EC3D6}"/>
              </a:ext>
            </a:extLst>
          </p:cNvPr>
          <p:cNvSpPr txBox="1"/>
          <p:nvPr/>
        </p:nvSpPr>
        <p:spPr>
          <a:xfrm>
            <a:off x="5224584" y="952052"/>
            <a:ext cx="2254738" cy="646331"/>
          </a:xfrm>
          <a:prstGeom prst="rect">
            <a:avLst/>
          </a:prstGeom>
          <a:noFill/>
        </p:spPr>
        <p:txBody>
          <a:bodyPr wrap="square">
            <a:spAutoFit/>
          </a:bodyPr>
          <a:lstStyle/>
          <a:p>
            <a:r>
              <a:rPr lang="en-US" dirty="0"/>
              <a:t>8-Servo SG90 </a:t>
            </a:r>
          </a:p>
          <a:p>
            <a:r>
              <a:rPr lang="en-US" dirty="0"/>
              <a:t>180° </a:t>
            </a:r>
          </a:p>
        </p:txBody>
      </p:sp>
      <p:pic>
        <p:nvPicPr>
          <p:cNvPr id="14" name="Picture 13">
            <a:extLst>
              <a:ext uri="{FF2B5EF4-FFF2-40B4-BE49-F238E27FC236}">
                <a16:creationId xmlns:a16="http://schemas.microsoft.com/office/drawing/2014/main" id="{BD2E2009-D405-3F0E-4A84-1E213EFE41D8}"/>
              </a:ext>
            </a:extLst>
          </p:cNvPr>
          <p:cNvPicPr>
            <a:picLocks noChangeAspect="1"/>
          </p:cNvPicPr>
          <p:nvPr/>
        </p:nvPicPr>
        <p:blipFill>
          <a:blip r:embed="rId3"/>
          <a:stretch>
            <a:fillRect/>
          </a:stretch>
        </p:blipFill>
        <p:spPr>
          <a:xfrm>
            <a:off x="6262266" y="3627169"/>
            <a:ext cx="1054699" cy="1036410"/>
          </a:xfrm>
          <a:prstGeom prst="rect">
            <a:avLst/>
          </a:prstGeom>
        </p:spPr>
      </p:pic>
      <p:sp>
        <p:nvSpPr>
          <p:cNvPr id="16" name="TextBox 15">
            <a:extLst>
              <a:ext uri="{FF2B5EF4-FFF2-40B4-BE49-F238E27FC236}">
                <a16:creationId xmlns:a16="http://schemas.microsoft.com/office/drawing/2014/main" id="{D471DD59-E976-6997-F08E-48AAE3785D93}"/>
              </a:ext>
            </a:extLst>
          </p:cNvPr>
          <p:cNvSpPr txBox="1"/>
          <p:nvPr/>
        </p:nvSpPr>
        <p:spPr>
          <a:xfrm>
            <a:off x="5109146" y="1927194"/>
            <a:ext cx="3993824" cy="1477328"/>
          </a:xfrm>
          <a:prstGeom prst="rect">
            <a:avLst/>
          </a:prstGeom>
          <a:noFill/>
        </p:spPr>
        <p:txBody>
          <a:bodyPr wrap="square">
            <a:spAutoFit/>
          </a:bodyPr>
          <a:lstStyle/>
          <a:p>
            <a:r>
              <a:rPr lang="en-US" dirty="0"/>
              <a:t>A motor that rotates between 0–180° to precisely position components; in a firefighting robot, it directs the water pump nozzle toward the detected flame.</a:t>
            </a:r>
          </a:p>
        </p:txBody>
      </p:sp>
    </p:spTree>
    <p:extLst>
      <p:ext uri="{BB962C8B-B14F-4D97-AF65-F5344CB8AC3E}">
        <p14:creationId xmlns:p14="http://schemas.microsoft.com/office/powerpoint/2010/main" val="2962064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0062A-C818-D33A-2590-029C82D509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AE556C-E545-0EFA-F612-3FA9CBE0AE9D}"/>
              </a:ext>
            </a:extLst>
          </p:cNvPr>
          <p:cNvSpPr txBox="1"/>
          <p:nvPr/>
        </p:nvSpPr>
        <p:spPr>
          <a:xfrm>
            <a:off x="230554" y="269904"/>
            <a:ext cx="5025292" cy="523220"/>
          </a:xfrm>
          <a:prstGeom prst="rect">
            <a:avLst/>
          </a:prstGeom>
          <a:noFill/>
        </p:spPr>
        <p:txBody>
          <a:bodyPr wrap="square">
            <a:spAutoFit/>
          </a:bodyPr>
          <a:lstStyle/>
          <a:p>
            <a:r>
              <a:rPr lang="en-US" sz="2800" b="1" dirty="0"/>
              <a:t>8. Its components</a:t>
            </a:r>
          </a:p>
        </p:txBody>
      </p:sp>
      <p:sp>
        <p:nvSpPr>
          <p:cNvPr id="4" name="TextBox 3">
            <a:extLst>
              <a:ext uri="{FF2B5EF4-FFF2-40B4-BE49-F238E27FC236}">
                <a16:creationId xmlns:a16="http://schemas.microsoft.com/office/drawing/2014/main" id="{DEEC40F3-B542-DFC0-F240-9CFF70F169B7}"/>
              </a:ext>
            </a:extLst>
          </p:cNvPr>
          <p:cNvSpPr txBox="1"/>
          <p:nvPr/>
        </p:nvSpPr>
        <p:spPr>
          <a:xfrm>
            <a:off x="170513" y="945286"/>
            <a:ext cx="2426677" cy="369332"/>
          </a:xfrm>
          <a:prstGeom prst="rect">
            <a:avLst/>
          </a:prstGeom>
          <a:noFill/>
        </p:spPr>
        <p:txBody>
          <a:bodyPr wrap="square">
            <a:spAutoFit/>
          </a:bodyPr>
          <a:lstStyle/>
          <a:p>
            <a:r>
              <a:rPr lang="en-US" dirty="0"/>
              <a:t>9-Relay one Chanel </a:t>
            </a:r>
          </a:p>
        </p:txBody>
      </p:sp>
      <p:pic>
        <p:nvPicPr>
          <p:cNvPr id="6" name="Picture 5">
            <a:extLst>
              <a:ext uri="{FF2B5EF4-FFF2-40B4-BE49-F238E27FC236}">
                <a16:creationId xmlns:a16="http://schemas.microsoft.com/office/drawing/2014/main" id="{EE106A2D-5D54-D8BE-DD58-B9C5766C42A7}"/>
              </a:ext>
            </a:extLst>
          </p:cNvPr>
          <p:cNvPicPr>
            <a:picLocks noChangeAspect="1"/>
          </p:cNvPicPr>
          <p:nvPr/>
        </p:nvPicPr>
        <p:blipFill>
          <a:blip r:embed="rId2"/>
          <a:stretch>
            <a:fillRect/>
          </a:stretch>
        </p:blipFill>
        <p:spPr>
          <a:xfrm>
            <a:off x="1005700" y="3447569"/>
            <a:ext cx="1396105" cy="1140051"/>
          </a:xfrm>
          <a:prstGeom prst="rect">
            <a:avLst/>
          </a:prstGeom>
        </p:spPr>
      </p:pic>
      <p:sp>
        <p:nvSpPr>
          <p:cNvPr id="8" name="TextBox 7">
            <a:extLst>
              <a:ext uri="{FF2B5EF4-FFF2-40B4-BE49-F238E27FC236}">
                <a16:creationId xmlns:a16="http://schemas.microsoft.com/office/drawing/2014/main" id="{FAEC1F4E-BAD4-DDA5-019A-43D25F4D6F41}"/>
              </a:ext>
            </a:extLst>
          </p:cNvPr>
          <p:cNvSpPr txBox="1"/>
          <p:nvPr/>
        </p:nvSpPr>
        <p:spPr>
          <a:xfrm>
            <a:off x="170513" y="1566710"/>
            <a:ext cx="4255477" cy="1477328"/>
          </a:xfrm>
          <a:prstGeom prst="rect">
            <a:avLst/>
          </a:prstGeom>
          <a:noFill/>
        </p:spPr>
        <p:txBody>
          <a:bodyPr wrap="square">
            <a:spAutoFit/>
          </a:bodyPr>
          <a:lstStyle/>
          <a:p>
            <a:r>
              <a:rPr lang="en-US" dirty="0"/>
              <a:t>An electrically controlled switch that allows a microcontroller to safely control high-power devices like a water pump using low-power signals while isolating the control and power circuits.</a:t>
            </a:r>
          </a:p>
        </p:txBody>
      </p:sp>
      <p:sp>
        <p:nvSpPr>
          <p:cNvPr id="10" name="TextBox 9">
            <a:extLst>
              <a:ext uri="{FF2B5EF4-FFF2-40B4-BE49-F238E27FC236}">
                <a16:creationId xmlns:a16="http://schemas.microsoft.com/office/drawing/2014/main" id="{AB0D6A6E-C215-7604-0861-AF7D15FD469D}"/>
              </a:ext>
            </a:extLst>
          </p:cNvPr>
          <p:cNvSpPr txBox="1"/>
          <p:nvPr/>
        </p:nvSpPr>
        <p:spPr>
          <a:xfrm>
            <a:off x="5255846" y="919657"/>
            <a:ext cx="2340708" cy="369332"/>
          </a:xfrm>
          <a:prstGeom prst="rect">
            <a:avLst/>
          </a:prstGeom>
          <a:noFill/>
        </p:spPr>
        <p:txBody>
          <a:bodyPr wrap="square">
            <a:spAutoFit/>
          </a:bodyPr>
          <a:lstStyle/>
          <a:p>
            <a:r>
              <a:rPr lang="en-US" dirty="0"/>
              <a:t>10-Arduino Uno </a:t>
            </a:r>
          </a:p>
        </p:txBody>
      </p:sp>
      <p:pic>
        <p:nvPicPr>
          <p:cNvPr id="12" name="Picture 11">
            <a:extLst>
              <a:ext uri="{FF2B5EF4-FFF2-40B4-BE49-F238E27FC236}">
                <a16:creationId xmlns:a16="http://schemas.microsoft.com/office/drawing/2014/main" id="{1E24A7F8-5EF6-19CD-289B-BBDED361E2CA}"/>
              </a:ext>
            </a:extLst>
          </p:cNvPr>
          <p:cNvPicPr>
            <a:picLocks noChangeAspect="1"/>
          </p:cNvPicPr>
          <p:nvPr/>
        </p:nvPicPr>
        <p:blipFill>
          <a:blip r:embed="rId3"/>
          <a:stretch>
            <a:fillRect/>
          </a:stretch>
        </p:blipFill>
        <p:spPr>
          <a:xfrm>
            <a:off x="6282737" y="3447569"/>
            <a:ext cx="1453565" cy="1140051"/>
          </a:xfrm>
          <a:prstGeom prst="rect">
            <a:avLst/>
          </a:prstGeom>
        </p:spPr>
      </p:pic>
      <p:sp>
        <p:nvSpPr>
          <p:cNvPr id="14" name="TextBox 13">
            <a:extLst>
              <a:ext uri="{FF2B5EF4-FFF2-40B4-BE49-F238E27FC236}">
                <a16:creationId xmlns:a16="http://schemas.microsoft.com/office/drawing/2014/main" id="{B589A4E2-C042-CE4E-F8F0-5A40DC6E3478}"/>
              </a:ext>
            </a:extLst>
          </p:cNvPr>
          <p:cNvSpPr txBox="1"/>
          <p:nvPr/>
        </p:nvSpPr>
        <p:spPr>
          <a:xfrm>
            <a:off x="5169877" y="1566710"/>
            <a:ext cx="3997568" cy="1754326"/>
          </a:xfrm>
          <a:prstGeom prst="rect">
            <a:avLst/>
          </a:prstGeom>
          <a:noFill/>
        </p:spPr>
        <p:txBody>
          <a:bodyPr wrap="square">
            <a:spAutoFit/>
          </a:bodyPr>
          <a:lstStyle/>
          <a:p>
            <a:r>
              <a:rPr lang="en-US" dirty="0"/>
              <a:t>The main controller of the project that processes sensor and button inputs, executes programmed instructions, and controls outputs like motors, LEDs, and pumps. It is open-source and beginner-friendly.</a:t>
            </a:r>
          </a:p>
        </p:txBody>
      </p:sp>
    </p:spTree>
    <p:extLst>
      <p:ext uri="{BB962C8B-B14F-4D97-AF65-F5344CB8AC3E}">
        <p14:creationId xmlns:p14="http://schemas.microsoft.com/office/powerpoint/2010/main" val="139509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B697F-BB77-B2EA-7A9C-D16AF259FB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940E51-D064-020C-006D-5108DC90C518}"/>
              </a:ext>
            </a:extLst>
          </p:cNvPr>
          <p:cNvSpPr txBox="1"/>
          <p:nvPr/>
        </p:nvSpPr>
        <p:spPr>
          <a:xfrm>
            <a:off x="230554" y="190472"/>
            <a:ext cx="5912338" cy="523220"/>
          </a:xfrm>
          <a:prstGeom prst="rect">
            <a:avLst/>
          </a:prstGeom>
          <a:noFill/>
        </p:spPr>
        <p:txBody>
          <a:bodyPr wrap="square">
            <a:spAutoFit/>
          </a:bodyPr>
          <a:lstStyle/>
          <a:p>
            <a:r>
              <a:rPr lang="en-US" sz="2800" b="1" dirty="0"/>
              <a:t>9. The Simulator(circuit design)</a:t>
            </a:r>
          </a:p>
        </p:txBody>
      </p:sp>
      <p:sp>
        <p:nvSpPr>
          <p:cNvPr id="6" name="TextBox 5">
            <a:extLst>
              <a:ext uri="{FF2B5EF4-FFF2-40B4-BE49-F238E27FC236}">
                <a16:creationId xmlns:a16="http://schemas.microsoft.com/office/drawing/2014/main" id="{DD30E571-6A0F-09E2-027F-F45DDF9958CF}"/>
              </a:ext>
            </a:extLst>
          </p:cNvPr>
          <p:cNvSpPr txBox="1"/>
          <p:nvPr/>
        </p:nvSpPr>
        <p:spPr>
          <a:xfrm>
            <a:off x="230554" y="713692"/>
            <a:ext cx="8792307" cy="4524315"/>
          </a:xfrm>
          <a:prstGeom prst="rect">
            <a:avLst/>
          </a:prstGeom>
          <a:noFill/>
        </p:spPr>
        <p:txBody>
          <a:bodyPr wrap="square">
            <a:spAutoFit/>
          </a:bodyPr>
          <a:lstStyle/>
          <a:p>
            <a:pPr marL="285750" indent="-285750">
              <a:buFont typeface="Arial" panose="020B0604020202020204" pitchFamily="34" charset="0"/>
              <a:buChar char="•"/>
            </a:pPr>
            <a:r>
              <a:rPr lang="en-US" dirty="0"/>
              <a:t>The system is built around an </a:t>
            </a:r>
            <a:r>
              <a:rPr lang="en-US" b="1" dirty="0"/>
              <a:t>Arduino Uno</a:t>
            </a:r>
            <a:r>
              <a:rPr lang="en-US" dirty="0"/>
              <a:t>, which acts as the main controller.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It receives input from </a:t>
            </a:r>
            <a:r>
              <a:rPr lang="en-US" b="1" dirty="0"/>
              <a:t>three flame sensors</a:t>
            </a:r>
            <a:r>
              <a:rPr lang="en-US" dirty="0"/>
              <a:t> to detect fire direction.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b="1" dirty="0"/>
              <a:t>L298 motor driver</a:t>
            </a:r>
            <a:r>
              <a:rPr lang="en-US" dirty="0"/>
              <a:t> controls four DC geared motors to move the robot toward the fire.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 </a:t>
            </a:r>
            <a:r>
              <a:rPr lang="en-US" b="1" dirty="0"/>
              <a:t>servo motor </a:t>
            </a:r>
            <a:r>
              <a:rPr lang="en-US" dirty="0"/>
              <a:t>adjusts the water nozzle to aim at the fire.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a:t>
            </a:r>
            <a:r>
              <a:rPr lang="en-US" b="1" dirty="0"/>
              <a:t>relay module</a:t>
            </a:r>
            <a:r>
              <a:rPr lang="en-US" dirty="0"/>
              <a:t> turns on the submersible pump to spray water through a tube.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is powered by </a:t>
            </a:r>
            <a:r>
              <a:rPr lang="en-US" b="1" dirty="0"/>
              <a:t>two 18650 batteries</a:t>
            </a:r>
            <a:r>
              <a:rPr lang="en-US" dirty="0"/>
              <a:t> with an ON/OFF switch for control.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Overall, it combines </a:t>
            </a:r>
            <a:r>
              <a:rPr lang="en-US" b="1" dirty="0"/>
              <a:t>sensing, movement, and fire extinguishing</a:t>
            </a:r>
            <a:r>
              <a:rPr lang="en-US" dirty="0"/>
              <a:t> in one integrated system.</a:t>
            </a:r>
          </a:p>
        </p:txBody>
      </p:sp>
    </p:spTree>
    <p:extLst>
      <p:ext uri="{BB962C8B-B14F-4D97-AF65-F5344CB8AC3E}">
        <p14:creationId xmlns:p14="http://schemas.microsoft.com/office/powerpoint/2010/main" val="3923841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21A8-81DF-F6FB-2D35-3FCB730DF5F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ABEC161-F618-D1EC-51AC-A41345E5E058}"/>
              </a:ext>
            </a:extLst>
          </p:cNvPr>
          <p:cNvPicPr>
            <a:picLocks noChangeAspect="1"/>
          </p:cNvPicPr>
          <p:nvPr/>
        </p:nvPicPr>
        <p:blipFill>
          <a:blip r:embed="rId2"/>
          <a:stretch>
            <a:fillRect/>
          </a:stretch>
        </p:blipFill>
        <p:spPr>
          <a:xfrm>
            <a:off x="1535723" y="981690"/>
            <a:ext cx="6309907" cy="3932261"/>
          </a:xfrm>
          <a:prstGeom prst="rect">
            <a:avLst/>
          </a:prstGeom>
        </p:spPr>
      </p:pic>
      <p:sp>
        <p:nvSpPr>
          <p:cNvPr id="5" name="TextBox 4">
            <a:extLst>
              <a:ext uri="{FF2B5EF4-FFF2-40B4-BE49-F238E27FC236}">
                <a16:creationId xmlns:a16="http://schemas.microsoft.com/office/drawing/2014/main" id="{F439BB1A-5B48-C03A-265B-8C0B2ECD6F63}"/>
              </a:ext>
            </a:extLst>
          </p:cNvPr>
          <p:cNvSpPr txBox="1"/>
          <p:nvPr/>
        </p:nvSpPr>
        <p:spPr>
          <a:xfrm>
            <a:off x="168031" y="229549"/>
            <a:ext cx="5951415" cy="523220"/>
          </a:xfrm>
          <a:prstGeom prst="rect">
            <a:avLst/>
          </a:prstGeom>
          <a:noFill/>
        </p:spPr>
        <p:txBody>
          <a:bodyPr wrap="square">
            <a:spAutoFit/>
          </a:bodyPr>
          <a:lstStyle/>
          <a:p>
            <a:r>
              <a:rPr lang="en-US" sz="2800" b="1" dirty="0"/>
              <a:t>9. The Simulator(circuit design)</a:t>
            </a:r>
          </a:p>
        </p:txBody>
      </p:sp>
    </p:spTree>
    <p:extLst>
      <p:ext uri="{BB962C8B-B14F-4D97-AF65-F5344CB8AC3E}">
        <p14:creationId xmlns:p14="http://schemas.microsoft.com/office/powerpoint/2010/main" val="1037678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 name="image6a0108619c688" descr="image6a0108619c68c"/>
          <p:cNvPicPr/>
          <p:nvPr/>
        </p:nvPicPr>
        <p:blipFill>
          <a:blip r:embed="rId2">
            <a:alphaModFix amt="50000"/>
          </a:blip>
          <a:stretch/>
        </p:blipFill>
        <p:spPr>
          <a:xfrm>
            <a:off x="4572000" y="0"/>
            <a:ext cx="4571640" cy="5143320"/>
          </a:xfrm>
          <a:prstGeom prst="rect">
            <a:avLst/>
          </a:prstGeom>
          <a:noFill/>
          <a:ln w="0">
            <a:noFill/>
          </a:ln>
        </p:spPr>
      </p:pic>
      <p:sp>
        <p:nvSpPr>
          <p:cNvPr id="2" name="TextBox 1">
            <a:extLst>
              <a:ext uri="{FF2B5EF4-FFF2-40B4-BE49-F238E27FC236}">
                <a16:creationId xmlns:a16="http://schemas.microsoft.com/office/drawing/2014/main" id="{40FC54FF-34F9-7FAB-0521-A71C1B5BA6F3}"/>
              </a:ext>
            </a:extLst>
          </p:cNvPr>
          <p:cNvSpPr txBox="1"/>
          <p:nvPr/>
        </p:nvSpPr>
        <p:spPr>
          <a:xfrm>
            <a:off x="2289908" y="1406768"/>
            <a:ext cx="4321907" cy="2123658"/>
          </a:xfrm>
          <a:prstGeom prst="rect">
            <a:avLst/>
          </a:prstGeom>
          <a:noFill/>
        </p:spPr>
        <p:txBody>
          <a:bodyPr wrap="square" rtlCol="0">
            <a:spAutoFit/>
          </a:bodyPr>
          <a:lstStyle/>
          <a:p>
            <a:pPr algn="ctr"/>
            <a:r>
              <a:rPr lang="en-US" sz="6600" b="1" dirty="0"/>
              <a:t>THANK YOU!</a:t>
            </a:r>
          </a:p>
        </p:txBody>
      </p:sp>
    </p:spTree>
  </p:cSld>
  <p:clrMapOvr>
    <a:masterClrMapping/>
  </p:clrMapOvr>
</p:sld>
</file>

<file path=ppt/theme/theme1.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TotalTime>
  <Words>907</Words>
  <Application>Microsoft Office PowerPoint</Application>
  <PresentationFormat>On-screen Show (16:9)</PresentationFormat>
  <Paragraphs>99</Paragraphs>
  <Slides>25</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25</vt:i4>
      </vt:variant>
    </vt:vector>
  </HeadingPairs>
  <TitlesOfParts>
    <vt:vector size="34" baseType="lpstr">
      <vt:lpstr>Arial</vt:lpstr>
      <vt:lpstr>OpenSymbol</vt:lpstr>
      <vt:lpstr>Symbol</vt:lpstr>
      <vt:lpstr>Syncopate</vt:lpstr>
      <vt:lpstr>Wingdings</vt:lpstr>
      <vt:lpstr>Aesthetic Tech Theme by Slidesgo</vt:lpstr>
      <vt:lpstr>Aesthetic Tech Theme by Slidesgo</vt:lpstr>
      <vt:lpstr>Aesthetic Tech Theme by Slidesgo</vt:lpstr>
      <vt:lpstr>Aesthetic Tech Theme by Slidesgo</vt:lpstr>
      <vt:lpstr>FIRE FIGHTING ROBOT</vt:lpstr>
      <vt:lpstr>PowerPoint Presentation</vt:lpstr>
      <vt:lpstr>1. FIRE FIGHTING ROBOT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Mohamed khaled</cp:lastModifiedBy>
  <cp:revision>1</cp:revision>
  <dcterms:modified xsi:type="dcterms:W3CDTF">2026-05-11T00:29:59Z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2026-05-10T22:36:17Z</dcterms:created>
  <dc:creator>Unknown Creator</dc:creator>
  <dc:description/>
  <dc:language>en-US</dc:language>
  <cp:lastModifiedBy>Unknown Creator</cp:lastModifiedBy>
  <dcterms:modified xsi:type="dcterms:W3CDTF">2026-05-10T22:36:17Z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